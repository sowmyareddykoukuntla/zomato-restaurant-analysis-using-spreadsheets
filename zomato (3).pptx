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nva Sans Bold" charset="0"/>
      <p:regular r:id="rId19"/>
    </p:embeddedFont>
    <p:embeddedFont>
      <p:font typeface="Calibri" pitchFamily="34" charset="0"/>
      <p:regular r:id="rId20"/>
      <p:bold r:id="rId21"/>
      <p:italic r:id="rId22"/>
      <p:boldItalic r:id="rId23"/>
    </p:embeddedFont>
    <p:embeddedFont>
      <p:font typeface="Canva Sans"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8" d="100"/>
          <a:sy n="48" d="100"/>
        </p:scale>
        <p:origin x="-41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rot="-10800000" flipV="1">
            <a:off x="5392362" y="0"/>
            <a:ext cx="2804521" cy="1402261"/>
          </a:xfrm>
          <a:custGeom>
            <a:avLst/>
            <a:gdLst/>
            <a:ahLst/>
            <a:cxnLst/>
            <a:rect l="l" t="t" r="r" b="b"/>
            <a:pathLst>
              <a:path w="2804521" h="1402261">
                <a:moveTo>
                  <a:pt x="0" y="1402261"/>
                </a:moveTo>
                <a:lnTo>
                  <a:pt x="2804521" y="1402261"/>
                </a:lnTo>
                <a:lnTo>
                  <a:pt x="2804521" y="0"/>
                </a:lnTo>
                <a:lnTo>
                  <a:pt x="0" y="0"/>
                </a:lnTo>
                <a:lnTo>
                  <a:pt x="0" y="1402261"/>
                </a:lnTo>
                <a:close/>
              </a:path>
            </a:pathLst>
          </a:custGeom>
          <a:blipFill>
            <a:blip r:embed="rId2">
              <a:extLst>
                <a:ext uri="{96DAC541-7B7A-43D3-8B79-37D633B846F1}">
                  <asvg:svgBlip xmlns="" xmlns:asvg="http://schemas.microsoft.com/office/drawing/2016/SVG/main" r:embed="rId6"/>
                </a:ext>
              </a:extLst>
            </a:blip>
            <a:stretch>
              <a:fillRect/>
            </a:stretch>
          </a:blipFill>
        </p:spPr>
      </p:sp>
      <p:sp>
        <p:nvSpPr>
          <p:cNvPr id="5" name="Freeform 5"/>
          <p:cNvSpPr/>
          <p:nvPr/>
        </p:nvSpPr>
        <p:spPr>
          <a:xfrm>
            <a:off x="16103771" y="1188685"/>
            <a:ext cx="2079053" cy="427151"/>
          </a:xfrm>
          <a:custGeom>
            <a:avLst/>
            <a:gdLst/>
            <a:ahLst/>
            <a:cxnLst/>
            <a:rect l="l" t="t" r="r" b="b"/>
            <a:pathLst>
              <a:path w="2079053" h="427151">
                <a:moveTo>
                  <a:pt x="0" y="0"/>
                </a:moveTo>
                <a:lnTo>
                  <a:pt x="2079054" y="0"/>
                </a:lnTo>
                <a:lnTo>
                  <a:pt x="2079054" y="427151"/>
                </a:lnTo>
                <a:lnTo>
                  <a:pt x="0" y="427151"/>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6" name="TextBox 6"/>
          <p:cNvSpPr txBox="1"/>
          <p:nvPr/>
        </p:nvSpPr>
        <p:spPr>
          <a:xfrm>
            <a:off x="479204" y="8548239"/>
            <a:ext cx="2831353" cy="675429"/>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KOUKUTLA  SOWMYA</a:t>
            </a:r>
          </a:p>
          <a:p>
            <a:pPr algn="l">
              <a:lnSpc>
                <a:spcPts val="2701"/>
              </a:lnSpc>
            </a:pPr>
            <a:endParaRPr lang="en-US" sz="1929" b="1">
              <a:solidFill>
                <a:srgbClr val="FFFFFF"/>
              </a:solidFill>
              <a:latin typeface="Canva Sans Bold"/>
              <a:ea typeface="Canva Sans Bold"/>
              <a:cs typeface="Canva Sans Bold"/>
              <a:sym typeface="Canva Sans Bold"/>
            </a:endParaRPr>
          </a:p>
        </p:txBody>
      </p:sp>
      <p:sp>
        <p:nvSpPr>
          <p:cNvPr id="7" name="TextBox 7"/>
          <p:cNvSpPr txBox="1"/>
          <p:nvPr/>
        </p:nvSpPr>
        <p:spPr>
          <a:xfrm>
            <a:off x="4114799" y="3009900"/>
            <a:ext cx="10147397" cy="2844215"/>
          </a:xfrm>
          <a:prstGeom prst="rect">
            <a:avLst/>
          </a:prstGeom>
        </p:spPr>
        <p:txBody>
          <a:bodyPr lIns="0" tIns="0" rIns="0" bIns="0" rtlCol="0" anchor="t">
            <a:spAutoFit/>
          </a:bodyPr>
          <a:lstStyle/>
          <a:p>
            <a:pPr algn="l">
              <a:lnSpc>
                <a:spcPts val="23307"/>
              </a:lnSpc>
            </a:pPr>
            <a:r>
              <a:rPr lang="en-US" sz="16648" b="1" spc="-1598" dirty="0">
                <a:solidFill>
                  <a:srgbClr val="DD1111"/>
                </a:solidFill>
                <a:latin typeface="Garet Ultra-Bold"/>
                <a:ea typeface="Garet Ultra-Bold"/>
                <a:cs typeface="Garet Ultra-Bold"/>
                <a:sym typeface="Garet Ultra-Bold"/>
              </a:rPr>
              <a:t>ZOMATO</a:t>
            </a:r>
          </a:p>
        </p:txBody>
      </p:sp>
      <p:sp>
        <p:nvSpPr>
          <p:cNvPr id="8" name="TextBox 8"/>
          <p:cNvSpPr txBox="1"/>
          <p:nvPr/>
        </p:nvSpPr>
        <p:spPr>
          <a:xfrm>
            <a:off x="3875622" y="5546847"/>
            <a:ext cx="8642522" cy="1169535"/>
          </a:xfrm>
          <a:prstGeom prst="rect">
            <a:avLst/>
          </a:prstGeom>
        </p:spPr>
        <p:txBody>
          <a:bodyPr lIns="0" tIns="0" rIns="0" bIns="0" rtlCol="0" anchor="t">
            <a:spAutoFit/>
          </a:bodyPr>
          <a:lstStyle/>
          <a:p>
            <a:pPr algn="l">
              <a:lnSpc>
                <a:spcPts val="9562"/>
              </a:lnSpc>
            </a:pPr>
            <a:r>
              <a:rPr lang="en-US" sz="6830" spc="-655" dirty="0">
                <a:solidFill>
                  <a:srgbClr val="DD1111"/>
                </a:solidFill>
                <a:latin typeface="Garet"/>
                <a:ea typeface="Garet"/>
                <a:cs typeface="Garet"/>
                <a:sym typeface="Garet"/>
              </a:rPr>
              <a:t>SALES DATA  ANALYSIS</a:t>
            </a:r>
          </a:p>
        </p:txBody>
      </p:sp>
      <p:sp>
        <p:nvSpPr>
          <p:cNvPr id="9" name="Freeform 9"/>
          <p:cNvSpPr/>
          <p:nvPr/>
        </p:nvSpPr>
        <p:spPr>
          <a:xfrm>
            <a:off x="0" y="7610598"/>
            <a:ext cx="1518731" cy="312030"/>
          </a:xfrm>
          <a:custGeom>
            <a:avLst/>
            <a:gdLst/>
            <a:ahLst/>
            <a:cxnLst/>
            <a:rect l="l" t="t" r="r" b="b"/>
            <a:pathLst>
              <a:path w="1518731" h="312030">
                <a:moveTo>
                  <a:pt x="0" y="0"/>
                </a:moveTo>
                <a:lnTo>
                  <a:pt x="1518731" y="0"/>
                </a:lnTo>
                <a:lnTo>
                  <a:pt x="1518731" y="312030"/>
                </a:lnTo>
                <a:lnTo>
                  <a:pt x="0" y="312030"/>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0" name="TextBox 10"/>
          <p:cNvSpPr txBox="1"/>
          <p:nvPr/>
        </p:nvSpPr>
        <p:spPr>
          <a:xfrm>
            <a:off x="479204" y="9176043"/>
            <a:ext cx="2831353" cy="337023"/>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20/07/2025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Freeform 2"/>
          <p:cNvSpPr/>
          <p:nvPr/>
        </p:nvSpPr>
        <p:spPr>
          <a:xfrm>
            <a:off x="0" y="48158"/>
            <a:ext cx="4820113" cy="2410057"/>
          </a:xfrm>
          <a:custGeom>
            <a:avLst/>
            <a:gdLst/>
            <a:ahLst/>
            <a:cxnLst/>
            <a:rect l="l" t="t" r="r" b="b"/>
            <a:pathLst>
              <a:path w="4820113" h="2410057">
                <a:moveTo>
                  <a:pt x="0" y="0"/>
                </a:moveTo>
                <a:lnTo>
                  <a:pt x="4820113" y="0"/>
                </a:lnTo>
                <a:lnTo>
                  <a:pt x="4820113" y="2410057"/>
                </a:lnTo>
                <a:lnTo>
                  <a:pt x="0" y="241005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6358456" y="1186512"/>
            <a:ext cx="9428758" cy="669925"/>
          </a:xfrm>
          <a:prstGeom prst="rect">
            <a:avLst/>
          </a:prstGeom>
        </p:spPr>
        <p:txBody>
          <a:bodyPr lIns="0" tIns="0" rIns="0" bIns="0" rtlCol="0" anchor="t">
            <a:spAutoFit/>
          </a:bodyPr>
          <a:lstStyle/>
          <a:p>
            <a:pPr algn="l">
              <a:lnSpc>
                <a:spcPts val="5599"/>
              </a:lnSpc>
            </a:pPr>
            <a:r>
              <a:rPr lang="en-US" sz="3999" b="1" spc="-383">
                <a:solidFill>
                  <a:srgbClr val="FFFFFF"/>
                </a:solidFill>
                <a:latin typeface="Garet Bold"/>
                <a:ea typeface="Garet Bold"/>
                <a:cs typeface="Garet Bold"/>
                <a:sym typeface="Garet Bold"/>
              </a:rPr>
              <a:t>PROBLEM STATEMENT</a:t>
            </a:r>
          </a:p>
        </p:txBody>
      </p:sp>
      <p:sp>
        <p:nvSpPr>
          <p:cNvPr id="4" name="TextBox 4"/>
          <p:cNvSpPr txBox="1"/>
          <p:nvPr/>
        </p:nvSpPr>
        <p:spPr>
          <a:xfrm>
            <a:off x="2410057" y="3906466"/>
            <a:ext cx="14139217" cy="2435968"/>
          </a:xfrm>
          <a:prstGeom prst="rect">
            <a:avLst/>
          </a:prstGeom>
        </p:spPr>
        <p:txBody>
          <a:bodyPr lIns="0" tIns="0" rIns="0" bIns="0" rtlCol="0" anchor="t">
            <a:spAutoFit/>
          </a:bodyPr>
          <a:lstStyle/>
          <a:p>
            <a:pPr algn="just">
              <a:lnSpc>
                <a:spcPts val="3284"/>
              </a:lnSpc>
            </a:pPr>
            <a:r>
              <a:rPr lang="en-US" sz="2345">
                <a:solidFill>
                  <a:srgbClr val="FFFFFF"/>
                </a:solidFill>
                <a:latin typeface="Canva Sans"/>
                <a:ea typeface="Canva Sans"/>
                <a:cs typeface="Canva Sans"/>
                <a:sym typeface="Canva Sans"/>
              </a:rPr>
              <a:t>YOU HAVE BEEN HIRED AS A CONSULTANT DATA ANALYST BY ZOMATO, WHERE THE TEAM IS EXPLORING OPPORTUNITIES FOR EXPANSION BY OPENING NEW RESTAURANTS. YOUR ROLE IS TO PROVIDE STRATEGIES AND RECOMMENDATIONS TO GUIDE THIS EXPANSION EFFECTIVELY.</a:t>
            </a:r>
          </a:p>
          <a:p>
            <a:pPr algn="just">
              <a:lnSpc>
                <a:spcPts val="3284"/>
              </a:lnSpc>
            </a:pPr>
            <a:endParaRPr lang="en-US" sz="2345">
              <a:solidFill>
                <a:srgbClr val="FFFFFF"/>
              </a:solidFill>
              <a:latin typeface="Canva Sans"/>
              <a:ea typeface="Canva Sans"/>
              <a:cs typeface="Canva Sans"/>
              <a:sym typeface="Canva Sans"/>
            </a:endParaRPr>
          </a:p>
          <a:p>
            <a:pPr algn="just">
              <a:lnSpc>
                <a:spcPts val="3284"/>
              </a:lnSpc>
            </a:pPr>
            <a:endParaRPr lang="en-US" sz="2345">
              <a:solidFill>
                <a:srgbClr val="FFFFFF"/>
              </a:solidFill>
              <a:latin typeface="Canva Sans"/>
              <a:ea typeface="Canva Sans"/>
              <a:cs typeface="Canva Sans"/>
              <a:sym typeface="Canva Sans"/>
            </a:endParaRPr>
          </a:p>
          <a:p>
            <a:pPr marL="0" lvl="0" indent="0" algn="just">
              <a:lnSpc>
                <a:spcPts val="3284"/>
              </a:lnSpc>
              <a:spcBef>
                <a:spcPct val="0"/>
              </a:spcBef>
            </a:pPr>
            <a:r>
              <a:rPr lang="en-US" sz="2345">
                <a:solidFill>
                  <a:srgbClr val="FFFFFF"/>
                </a:solidFill>
                <a:latin typeface="Canva Sans"/>
                <a:ea typeface="Canva Sans"/>
                <a:cs typeface="Canva Sans"/>
                <a:sym typeface="Canva Sans"/>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7881" y="660400"/>
            <a:ext cx="9844467" cy="669925"/>
          </a:xfrm>
          <a:prstGeom prst="rect">
            <a:avLst/>
          </a:prstGeom>
        </p:spPr>
        <p:txBody>
          <a:bodyPr lIns="0" tIns="0" rIns="0" bIns="0" rtlCol="0" anchor="t">
            <a:spAutoFit/>
          </a:bodyPr>
          <a:lstStyle/>
          <a:p>
            <a:pPr algn="l">
              <a:lnSpc>
                <a:spcPts val="5599"/>
              </a:lnSpc>
            </a:pPr>
            <a:r>
              <a:rPr lang="en-US" sz="3999" b="1" spc="-383">
                <a:solidFill>
                  <a:srgbClr val="DD1111"/>
                </a:solidFill>
                <a:latin typeface="Garet Ultra-Bold"/>
                <a:ea typeface="Garet Ultra-Bold"/>
                <a:cs typeface="Garet Ultra-Bold"/>
                <a:sym typeface="Garet Ultra-Bold"/>
              </a:rPr>
              <a:t>DATA OVERVIEW</a:t>
            </a:r>
          </a:p>
        </p:txBody>
      </p:sp>
      <p:sp>
        <p:nvSpPr>
          <p:cNvPr id="3" name="TextBox 3"/>
          <p:cNvSpPr txBox="1"/>
          <p:nvPr/>
        </p:nvSpPr>
        <p:spPr>
          <a:xfrm>
            <a:off x="1267881" y="1976256"/>
            <a:ext cx="14468116" cy="7608516"/>
          </a:xfrm>
          <a:prstGeom prst="rect">
            <a:avLst/>
          </a:prstGeom>
        </p:spPr>
        <p:txBody>
          <a:bodyPr lIns="0" tIns="0" rIns="0" bIns="0" rtlCol="0" anchor="t">
            <a:spAutoFit/>
          </a:bodyPr>
          <a:lstStyle/>
          <a:p>
            <a:pPr algn="just">
              <a:lnSpc>
                <a:spcPts val="3782"/>
              </a:lnSpc>
            </a:pPr>
            <a:r>
              <a:rPr lang="en-US" sz="2702">
                <a:solidFill>
                  <a:srgbClr val="DD1111"/>
                </a:solidFill>
                <a:latin typeface="Canva Sans"/>
                <a:ea typeface="Canva Sans"/>
                <a:cs typeface="Canva Sans"/>
                <a:sym typeface="Canva Sans"/>
              </a:rPr>
              <a:t>1.There is a total of 9542 restaurants worldwide.</a:t>
            </a:r>
          </a:p>
          <a:p>
            <a:pPr algn="just">
              <a:lnSpc>
                <a:spcPts val="3782"/>
              </a:lnSpc>
            </a:pPr>
            <a:r>
              <a:rPr lang="en-US" sz="2702">
                <a:solidFill>
                  <a:srgbClr val="DD1111"/>
                </a:solidFill>
                <a:latin typeface="Canva Sans"/>
                <a:ea typeface="Canva Sans"/>
                <a:cs typeface="Canva Sans"/>
                <a:sym typeface="Canva Sans"/>
              </a:rPr>
              <a:t>2.Most of the restaurants were opened in the year 2018.</a:t>
            </a:r>
          </a:p>
          <a:p>
            <a:pPr algn="just">
              <a:lnSpc>
                <a:spcPts val="3782"/>
              </a:lnSpc>
            </a:pPr>
            <a:r>
              <a:rPr lang="en-US" sz="2702">
                <a:solidFill>
                  <a:srgbClr val="DD1111"/>
                </a:solidFill>
                <a:latin typeface="Canva Sans"/>
                <a:ea typeface="Canva Sans"/>
                <a:cs typeface="Canva Sans"/>
                <a:sym typeface="Canva Sans"/>
              </a:rPr>
              <a:t>3.We can see that most restaurants have online deliveries and table bookings.</a:t>
            </a:r>
          </a:p>
          <a:p>
            <a:pPr algn="just">
              <a:lnSpc>
                <a:spcPts val="3782"/>
              </a:lnSpc>
            </a:pPr>
            <a:r>
              <a:rPr lang="en-US" sz="2702">
                <a:solidFill>
                  <a:srgbClr val="DD1111"/>
                </a:solidFill>
                <a:latin typeface="Canva Sans"/>
                <a:ea typeface="Canva Sans"/>
                <a:cs typeface="Canva Sans"/>
                <a:sym typeface="Canva Sans"/>
              </a:rPr>
              <a:t>4.Restaurants have a price range between 1- 4.</a:t>
            </a:r>
          </a:p>
          <a:p>
            <a:pPr algn="just">
              <a:lnSpc>
                <a:spcPts val="3782"/>
              </a:lnSpc>
            </a:pPr>
            <a:r>
              <a:rPr lang="en-US" sz="2702">
                <a:solidFill>
                  <a:srgbClr val="DD1111"/>
                </a:solidFill>
                <a:latin typeface="Canva Sans"/>
                <a:ea typeface="Canva Sans"/>
                <a:cs typeface="Canva Sans"/>
                <a:sym typeface="Canva Sans"/>
              </a:rPr>
              <a:t>5.Different restaurants have different ratings based on their cities cuisines and price range.</a:t>
            </a:r>
          </a:p>
          <a:p>
            <a:pPr algn="just">
              <a:lnSpc>
                <a:spcPts val="3782"/>
              </a:lnSpc>
            </a:pPr>
            <a:r>
              <a:rPr lang="en-US" sz="2702">
                <a:solidFill>
                  <a:srgbClr val="DD1111"/>
                </a:solidFill>
                <a:latin typeface="Canva Sans"/>
                <a:ea typeface="Canva Sans"/>
                <a:cs typeface="Canva Sans"/>
                <a:sym typeface="Canva Sans"/>
              </a:rPr>
              <a:t>Key Metrics:</a:t>
            </a:r>
          </a:p>
          <a:p>
            <a:pPr marL="583385" lvl="1" indent="-291693" algn="just">
              <a:lnSpc>
                <a:spcPts val="3782"/>
              </a:lnSpc>
              <a:buFont typeface="Arial"/>
              <a:buChar char="•"/>
            </a:pPr>
            <a:r>
              <a:rPr lang="en-US" sz="2702">
                <a:solidFill>
                  <a:srgbClr val="DD1111"/>
                </a:solidFill>
                <a:latin typeface="Canva Sans"/>
                <a:ea typeface="Canva Sans"/>
                <a:cs typeface="Canva Sans"/>
                <a:sym typeface="Canva Sans"/>
              </a:rPr>
              <a:t>Ratings &amp; Voters: Customer feedback and engagement. </a:t>
            </a:r>
          </a:p>
          <a:p>
            <a:pPr marL="583385" lvl="1" indent="-291693" algn="just">
              <a:lnSpc>
                <a:spcPts val="3782"/>
              </a:lnSpc>
              <a:buFont typeface="Arial"/>
              <a:buChar char="•"/>
            </a:pPr>
            <a:r>
              <a:rPr lang="en-US" sz="2702">
                <a:solidFill>
                  <a:srgbClr val="DD1111"/>
                </a:solidFill>
                <a:latin typeface="Canva Sans"/>
                <a:ea typeface="Canva Sans"/>
                <a:cs typeface="Canva Sans"/>
                <a:sym typeface="Canva Sans"/>
              </a:rPr>
              <a:t>Price Range: Average cost for meals. </a:t>
            </a:r>
          </a:p>
          <a:p>
            <a:pPr marL="583385" lvl="1" indent="-291693" algn="just">
              <a:lnSpc>
                <a:spcPts val="3782"/>
              </a:lnSpc>
              <a:buFont typeface="Arial"/>
              <a:buChar char="•"/>
            </a:pPr>
            <a:r>
              <a:rPr lang="en-US" sz="2702">
                <a:solidFill>
                  <a:srgbClr val="DD1111"/>
                </a:solidFill>
                <a:latin typeface="Canva Sans"/>
                <a:ea typeface="Canva Sans"/>
                <a:cs typeface="Canva Sans"/>
                <a:sym typeface="Canva Sans"/>
              </a:rPr>
              <a:t>Location: Countries and cities where restaurants are located. </a:t>
            </a:r>
          </a:p>
          <a:p>
            <a:pPr marL="583385" lvl="1" indent="-291693" algn="just">
              <a:lnSpc>
                <a:spcPts val="3782"/>
              </a:lnSpc>
              <a:buFont typeface="Arial"/>
              <a:buChar char="•"/>
            </a:pPr>
            <a:r>
              <a:rPr lang="en-US" sz="2702">
                <a:solidFill>
                  <a:srgbClr val="DD1111"/>
                </a:solidFill>
                <a:latin typeface="Canva Sans"/>
                <a:ea typeface="Canva Sans"/>
                <a:cs typeface="Canva Sans"/>
                <a:sym typeface="Canva Sans"/>
              </a:rPr>
              <a:t>Services: Availability of table booking and online delivery.</a:t>
            </a:r>
          </a:p>
          <a:p>
            <a:pPr algn="just">
              <a:lnSpc>
                <a:spcPts val="3782"/>
              </a:lnSpc>
            </a:pPr>
            <a:endParaRPr lang="en-US" sz="2702">
              <a:solidFill>
                <a:srgbClr val="DD1111"/>
              </a:solidFill>
              <a:latin typeface="Canva Sans"/>
              <a:ea typeface="Canva Sans"/>
              <a:cs typeface="Canva Sans"/>
              <a:sym typeface="Canva Sans"/>
            </a:endParaRPr>
          </a:p>
          <a:p>
            <a:pPr algn="just">
              <a:lnSpc>
                <a:spcPts val="3782"/>
              </a:lnSpc>
            </a:pPr>
            <a:endParaRPr lang="en-US" sz="2702">
              <a:solidFill>
                <a:srgbClr val="DD1111"/>
              </a:solidFill>
              <a:latin typeface="Canva Sans"/>
              <a:ea typeface="Canva Sans"/>
              <a:cs typeface="Canva Sans"/>
              <a:sym typeface="Canva Sans"/>
            </a:endParaRPr>
          </a:p>
          <a:p>
            <a:pPr marL="0" lvl="0" indent="0" algn="just">
              <a:lnSpc>
                <a:spcPts val="3782"/>
              </a:lnSpc>
              <a:spcBef>
                <a:spcPct val="0"/>
              </a:spcBef>
            </a:pPr>
            <a:endParaRPr lang="en-US" sz="2702">
              <a:solidFill>
                <a:srgbClr val="DD1111"/>
              </a:solidFill>
              <a:latin typeface="Canva Sans"/>
              <a:ea typeface="Canva Sans"/>
              <a:cs typeface="Canva Sans"/>
              <a:sym typeface="Canva Sans"/>
            </a:endParaRPr>
          </a:p>
          <a:p>
            <a:pPr marL="0" lvl="0" indent="0" algn="just">
              <a:lnSpc>
                <a:spcPts val="3782"/>
              </a:lnSpc>
              <a:spcBef>
                <a:spcPct val="0"/>
              </a:spcBef>
            </a:pPr>
            <a:endParaRPr lang="en-US" sz="2702">
              <a:solidFill>
                <a:srgbClr val="DD1111"/>
              </a:solidFill>
              <a:latin typeface="Canva Sans"/>
              <a:ea typeface="Canva Sans"/>
              <a:cs typeface="Canva Sans"/>
              <a:sym typeface="Canva Sans"/>
            </a:endParaRPr>
          </a:p>
          <a:p>
            <a:pPr marL="0" lvl="0" indent="0" algn="just">
              <a:lnSpc>
                <a:spcPts val="3782"/>
              </a:lnSpc>
              <a:spcBef>
                <a:spcPct val="0"/>
              </a:spcBef>
            </a:pPr>
            <a:endParaRPr lang="en-US" sz="2702">
              <a:solidFill>
                <a:srgbClr val="DD1111"/>
              </a:solidFill>
              <a:latin typeface="Canva Sans"/>
              <a:ea typeface="Canva Sans"/>
              <a:cs typeface="Canva Sans"/>
              <a:sym typeface="Canva Sans"/>
            </a:endParaRPr>
          </a:p>
        </p:txBody>
      </p:sp>
      <p:sp>
        <p:nvSpPr>
          <p:cNvPr id="4" name="Freeform 4"/>
          <p:cNvSpPr/>
          <p:nvPr/>
        </p:nvSpPr>
        <p:spPr>
          <a:xfrm flipV="1">
            <a:off x="11686666" y="6986333"/>
            <a:ext cx="6601334" cy="3300667"/>
          </a:xfrm>
          <a:custGeom>
            <a:avLst/>
            <a:gdLst/>
            <a:ahLst/>
            <a:cxnLst/>
            <a:rect l="l" t="t" r="r" b="b"/>
            <a:pathLst>
              <a:path w="6601334" h="3300667">
                <a:moveTo>
                  <a:pt x="0" y="3300667"/>
                </a:moveTo>
                <a:lnTo>
                  <a:pt x="6601334" y="3300667"/>
                </a:lnTo>
                <a:lnTo>
                  <a:pt x="6601334" y="0"/>
                </a:lnTo>
                <a:lnTo>
                  <a:pt x="0" y="0"/>
                </a:lnTo>
                <a:lnTo>
                  <a:pt x="0" y="3300667"/>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flipV="1">
            <a:off x="16023857" y="727075"/>
            <a:ext cx="2470887" cy="507655"/>
          </a:xfrm>
          <a:custGeom>
            <a:avLst/>
            <a:gdLst/>
            <a:ahLst/>
            <a:cxnLst/>
            <a:rect l="l" t="t" r="r" b="b"/>
            <a:pathLst>
              <a:path w="2470887" h="507655">
                <a:moveTo>
                  <a:pt x="0" y="507655"/>
                </a:moveTo>
                <a:lnTo>
                  <a:pt x="2470886" y="507655"/>
                </a:lnTo>
                <a:lnTo>
                  <a:pt x="2470886" y="0"/>
                </a:lnTo>
                <a:lnTo>
                  <a:pt x="0" y="0"/>
                </a:lnTo>
                <a:lnTo>
                  <a:pt x="0" y="507655"/>
                </a:lnTo>
                <a:close/>
              </a:path>
            </a:pathLst>
          </a:custGeom>
          <a:blipFill>
            <a:blip r:embed="rId4">
              <a:extLst>
                <a:ext uri="{96DAC541-7B7A-43D3-8B79-37D633B846F1}">
                  <asvg:svgBlip xmlns="" xmlns:asvg="http://schemas.microsoft.com/office/drawing/2016/SVG/main" r:embed="rId5"/>
                </a:ext>
              </a:extLst>
            </a:blip>
            <a:stretch>
              <a:fillRect/>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TextBox 2"/>
          <p:cNvSpPr txBox="1"/>
          <p:nvPr/>
        </p:nvSpPr>
        <p:spPr>
          <a:xfrm>
            <a:off x="4892440" y="1231267"/>
            <a:ext cx="10232643"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Bold"/>
                <a:ea typeface="Garet Bold"/>
                <a:cs typeface="Garet Bold"/>
                <a:sym typeface="Garet Bold"/>
              </a:rPr>
              <a:t>DATA CLEANING APPROACH</a:t>
            </a:r>
          </a:p>
        </p:txBody>
      </p:sp>
      <p:sp>
        <p:nvSpPr>
          <p:cNvPr id="3" name="TextBox 3"/>
          <p:cNvSpPr txBox="1"/>
          <p:nvPr/>
        </p:nvSpPr>
        <p:spPr>
          <a:xfrm>
            <a:off x="1075078" y="3140737"/>
            <a:ext cx="16184222" cy="4938977"/>
          </a:xfrm>
          <a:prstGeom prst="rect">
            <a:avLst/>
          </a:prstGeom>
        </p:spPr>
        <p:txBody>
          <a:bodyPr lIns="0" tIns="0" rIns="0" bIns="0" rtlCol="0" anchor="t">
            <a:spAutoFit/>
          </a:bodyPr>
          <a:lstStyle/>
          <a:p>
            <a:pPr algn="just">
              <a:lnSpc>
                <a:spcPts val="3922"/>
              </a:lnSpc>
            </a:pPr>
            <a:r>
              <a:rPr lang="en-US" sz="2802">
                <a:solidFill>
                  <a:srgbClr val="FFFFFF"/>
                </a:solidFill>
                <a:latin typeface="Canva Sans"/>
                <a:ea typeface="Canva Sans"/>
                <a:cs typeface="Canva Sans"/>
                <a:sym typeface="Canva Sans"/>
              </a:rPr>
              <a:t>Data Cleaning Approach:</a:t>
            </a:r>
          </a:p>
          <a:p>
            <a:pPr algn="just">
              <a:lnSpc>
                <a:spcPts val="3922"/>
              </a:lnSpc>
            </a:pPr>
            <a:r>
              <a:rPr lang="en-US" sz="2802">
                <a:solidFill>
                  <a:srgbClr val="FFFFFF"/>
                </a:solidFill>
                <a:latin typeface="Canva Sans"/>
                <a:ea typeface="Canva Sans"/>
                <a:cs typeface="Canva Sans"/>
                <a:sym typeface="Canva Sans"/>
              </a:rPr>
              <a:t>1.There are 9 blank cells found in the column cuisines and those rows with blank cells are removed</a:t>
            </a:r>
          </a:p>
          <a:p>
            <a:pPr algn="just">
              <a:lnSpc>
                <a:spcPts val="3922"/>
              </a:lnSpc>
            </a:pPr>
            <a:r>
              <a:rPr lang="en-US" sz="2802">
                <a:solidFill>
                  <a:srgbClr val="FFFFFF"/>
                </a:solidFill>
                <a:latin typeface="Canva Sans"/>
                <a:ea typeface="Canva Sans"/>
                <a:cs typeface="Canva Sans"/>
                <a:sym typeface="Canva Sans"/>
              </a:rPr>
              <a:t>2.All currencies are updated in the Indian Rupees in the new column created named Average_cost_for_two(INR)</a:t>
            </a:r>
          </a:p>
          <a:p>
            <a:pPr algn="just">
              <a:lnSpc>
                <a:spcPts val="3922"/>
              </a:lnSpc>
            </a:pPr>
            <a:r>
              <a:rPr lang="en-US" sz="2802">
                <a:solidFill>
                  <a:srgbClr val="FFFFFF"/>
                </a:solidFill>
                <a:latin typeface="Canva Sans"/>
                <a:ea typeface="Canva Sans"/>
                <a:cs typeface="Canva Sans"/>
                <a:sym typeface="Canva Sans"/>
              </a:rPr>
              <a:t>3.Year is extracted from the column Datekey_Opening.</a:t>
            </a:r>
          </a:p>
          <a:p>
            <a:pPr algn="just">
              <a:lnSpc>
                <a:spcPts val="3922"/>
              </a:lnSpc>
            </a:pPr>
            <a:r>
              <a:rPr lang="en-US" sz="2802">
                <a:solidFill>
                  <a:srgbClr val="FFFFFF"/>
                </a:solidFill>
                <a:latin typeface="Canva Sans"/>
                <a:ea typeface="Canva Sans"/>
                <a:cs typeface="Canva Sans"/>
                <a:sym typeface="Canva Sans"/>
              </a:rPr>
              <a:t>4.Rating Range is extracted from Rating column</a:t>
            </a:r>
          </a:p>
          <a:p>
            <a:pPr algn="just">
              <a:lnSpc>
                <a:spcPts val="3922"/>
              </a:lnSpc>
            </a:pPr>
            <a:endParaRPr lang="en-US" sz="2802">
              <a:solidFill>
                <a:srgbClr val="FFFFFF"/>
              </a:solidFill>
              <a:latin typeface="Canva Sans"/>
              <a:ea typeface="Canva Sans"/>
              <a:cs typeface="Canva Sans"/>
              <a:sym typeface="Canva Sans"/>
            </a:endParaRPr>
          </a:p>
          <a:p>
            <a:pPr algn="just">
              <a:lnSpc>
                <a:spcPts val="3922"/>
              </a:lnSpc>
            </a:pPr>
            <a:endParaRPr lang="en-US" sz="2802">
              <a:solidFill>
                <a:srgbClr val="FFFFFF"/>
              </a:solidFill>
              <a:latin typeface="Canva Sans"/>
              <a:ea typeface="Canva Sans"/>
              <a:cs typeface="Canva Sans"/>
              <a:sym typeface="Canva Sans"/>
            </a:endParaRPr>
          </a:p>
          <a:p>
            <a:pPr algn="just">
              <a:lnSpc>
                <a:spcPts val="3922"/>
              </a:lnSpc>
            </a:pPr>
            <a:endParaRPr lang="en-US" sz="2802">
              <a:solidFill>
                <a:srgbClr val="FFFFFF"/>
              </a:solidFill>
              <a:latin typeface="Canva Sans"/>
              <a:ea typeface="Canva Sans"/>
              <a:cs typeface="Canva Sans"/>
              <a:sym typeface="Canva Sans"/>
            </a:endParaRPr>
          </a:p>
        </p:txBody>
      </p:sp>
      <p:sp>
        <p:nvSpPr>
          <p:cNvPr id="4" name="Freeform 4"/>
          <p:cNvSpPr/>
          <p:nvPr/>
        </p:nvSpPr>
        <p:spPr>
          <a:xfrm flipV="1">
            <a:off x="15516794" y="8973622"/>
            <a:ext cx="2771206" cy="569357"/>
          </a:xfrm>
          <a:custGeom>
            <a:avLst/>
            <a:gdLst/>
            <a:ahLst/>
            <a:cxnLst/>
            <a:rect l="l" t="t" r="r" b="b"/>
            <a:pathLst>
              <a:path w="2771206" h="569357">
                <a:moveTo>
                  <a:pt x="0" y="569356"/>
                </a:moveTo>
                <a:lnTo>
                  <a:pt x="2771206" y="569356"/>
                </a:lnTo>
                <a:lnTo>
                  <a:pt x="2771206" y="0"/>
                </a:lnTo>
                <a:lnTo>
                  <a:pt x="0" y="0"/>
                </a:lnTo>
                <a:lnTo>
                  <a:pt x="0" y="569356"/>
                </a:lnTo>
                <a:close/>
              </a:path>
            </a:pathLst>
          </a:custGeom>
          <a:blipFill>
            <a:blip r:embed="rId2">
              <a:extLst>
                <a:ext uri="{96DAC541-7B7A-43D3-8B79-37D633B846F1}">
                  <asvg:svgBlip xmlns=""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270566" y="708198"/>
            <a:ext cx="3650556" cy="669925"/>
          </a:xfrm>
          <a:prstGeom prst="rect">
            <a:avLst/>
          </a:prstGeom>
        </p:spPr>
        <p:txBody>
          <a:bodyPr lIns="0" tIns="0" rIns="0" bIns="0" rtlCol="0" anchor="t">
            <a:spAutoFit/>
          </a:bodyPr>
          <a:lstStyle/>
          <a:p>
            <a:pPr marL="0" lvl="0" indent="0" algn="l">
              <a:lnSpc>
                <a:spcPts val="5599"/>
              </a:lnSpc>
              <a:spcBef>
                <a:spcPct val="0"/>
              </a:spcBef>
            </a:pPr>
            <a:r>
              <a:rPr lang="en-US" sz="3999" b="1" spc="-383">
                <a:solidFill>
                  <a:srgbClr val="DD1111"/>
                </a:solidFill>
                <a:latin typeface="Garet Ultra-Bold"/>
                <a:ea typeface="Garet Ultra-Bold"/>
                <a:cs typeface="Garet Ultra-Bold"/>
                <a:sym typeface="Garet Ultra-Bold"/>
              </a:rPr>
              <a:t>INTRODUCTION</a:t>
            </a:r>
          </a:p>
        </p:txBody>
      </p:sp>
      <p:sp>
        <p:nvSpPr>
          <p:cNvPr id="3" name="Freeform 3"/>
          <p:cNvSpPr/>
          <p:nvPr/>
        </p:nvSpPr>
        <p:spPr>
          <a:xfrm flipV="1">
            <a:off x="15817113" y="774873"/>
            <a:ext cx="2470887" cy="507655"/>
          </a:xfrm>
          <a:custGeom>
            <a:avLst/>
            <a:gdLst/>
            <a:ahLst/>
            <a:cxnLst/>
            <a:rect l="l" t="t" r="r" b="b"/>
            <a:pathLst>
              <a:path w="2470887" h="507655">
                <a:moveTo>
                  <a:pt x="0" y="507654"/>
                </a:moveTo>
                <a:lnTo>
                  <a:pt x="2470887" y="507654"/>
                </a:lnTo>
                <a:lnTo>
                  <a:pt x="2470887" y="0"/>
                </a:lnTo>
                <a:lnTo>
                  <a:pt x="0" y="0"/>
                </a:lnTo>
                <a:lnTo>
                  <a:pt x="0" y="507654"/>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flipV="1">
            <a:off x="0" y="9258300"/>
            <a:ext cx="2470887" cy="507655"/>
          </a:xfrm>
          <a:custGeom>
            <a:avLst/>
            <a:gdLst/>
            <a:ahLst/>
            <a:cxnLst/>
            <a:rect l="l" t="t" r="r" b="b"/>
            <a:pathLst>
              <a:path w="2470887" h="507655">
                <a:moveTo>
                  <a:pt x="0" y="507655"/>
                </a:moveTo>
                <a:lnTo>
                  <a:pt x="2470887" y="507655"/>
                </a:lnTo>
                <a:lnTo>
                  <a:pt x="2470887" y="0"/>
                </a:lnTo>
                <a:lnTo>
                  <a:pt x="0" y="0"/>
                </a:lnTo>
                <a:lnTo>
                  <a:pt x="0" y="507655"/>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TextBox 5"/>
          <p:cNvSpPr txBox="1"/>
          <p:nvPr/>
        </p:nvSpPr>
        <p:spPr>
          <a:xfrm>
            <a:off x="2282751" y="3215667"/>
            <a:ext cx="14468116" cy="3798516"/>
          </a:xfrm>
          <a:prstGeom prst="rect">
            <a:avLst/>
          </a:prstGeom>
        </p:spPr>
        <p:txBody>
          <a:bodyPr lIns="0" tIns="0" rIns="0" bIns="0" rtlCol="0" anchor="t">
            <a:spAutoFit/>
          </a:bodyPr>
          <a:lstStyle/>
          <a:p>
            <a:pPr algn="just">
              <a:lnSpc>
                <a:spcPts val="3782"/>
              </a:lnSpc>
            </a:pPr>
            <a:r>
              <a:rPr lang="en-US" sz="2702">
                <a:solidFill>
                  <a:srgbClr val="DD1111"/>
                </a:solidFill>
                <a:latin typeface="Canva Sans"/>
                <a:ea typeface="Canva Sans"/>
                <a:cs typeface="Canva Sans"/>
                <a:sym typeface="Canva Sans"/>
              </a:rPr>
              <a:t>This project focuses on analyzing Zomato’s restaurant data to identify the best opportunities for opening new restaurants in profitable and sustainable locations. By studying customer preferences, demographic trends, location demand, competition levels, cuisine popularity, and customer feedback, the analysis provides valuable insights for strategic decision-making. The aim is to help restaurant owners and investors choose the right locations, design appealing menus, improve operational efficiency, and plan for long-term growth while keeping up with evolving customer tastes and sustainability practices.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82925" y="2363865"/>
            <a:ext cx="3299141" cy="2125718"/>
          </a:xfrm>
          <a:custGeom>
            <a:avLst/>
            <a:gdLst/>
            <a:ahLst/>
            <a:cxnLst/>
            <a:rect l="l" t="t" r="r" b="b"/>
            <a:pathLst>
              <a:path w="3299141" h="2125718">
                <a:moveTo>
                  <a:pt x="0" y="0"/>
                </a:moveTo>
                <a:lnTo>
                  <a:pt x="3299141" y="0"/>
                </a:lnTo>
                <a:lnTo>
                  <a:pt x="3299141" y="2125718"/>
                </a:lnTo>
                <a:lnTo>
                  <a:pt x="0" y="2125718"/>
                </a:lnTo>
                <a:lnTo>
                  <a:pt x="0" y="0"/>
                </a:lnTo>
                <a:close/>
              </a:path>
            </a:pathLst>
          </a:custGeom>
          <a:blipFill>
            <a:blip r:embed="rId2"/>
            <a:stretch>
              <a:fillRect t="-18818" b="-36382"/>
            </a:stretch>
          </a:blipFill>
        </p:spPr>
      </p:sp>
      <p:sp>
        <p:nvSpPr>
          <p:cNvPr id="3" name="Freeform 3"/>
          <p:cNvSpPr/>
          <p:nvPr/>
        </p:nvSpPr>
        <p:spPr>
          <a:xfrm>
            <a:off x="7265209" y="2363865"/>
            <a:ext cx="3757583" cy="2125718"/>
          </a:xfrm>
          <a:custGeom>
            <a:avLst/>
            <a:gdLst/>
            <a:ahLst/>
            <a:cxnLst/>
            <a:rect l="l" t="t" r="r" b="b"/>
            <a:pathLst>
              <a:path w="3757583" h="2125718">
                <a:moveTo>
                  <a:pt x="0" y="0"/>
                </a:moveTo>
                <a:lnTo>
                  <a:pt x="3757582" y="0"/>
                </a:lnTo>
                <a:lnTo>
                  <a:pt x="3757582" y="2125718"/>
                </a:lnTo>
                <a:lnTo>
                  <a:pt x="0" y="2125718"/>
                </a:lnTo>
                <a:lnTo>
                  <a:pt x="0" y="0"/>
                </a:lnTo>
                <a:close/>
              </a:path>
            </a:pathLst>
          </a:custGeom>
          <a:blipFill>
            <a:blip r:embed="rId3"/>
            <a:stretch>
              <a:fillRect/>
            </a:stretch>
          </a:blipFill>
        </p:spPr>
      </p:sp>
      <p:sp>
        <p:nvSpPr>
          <p:cNvPr id="4" name="Freeform 4"/>
          <p:cNvSpPr/>
          <p:nvPr/>
        </p:nvSpPr>
        <p:spPr>
          <a:xfrm>
            <a:off x="12942231" y="2363865"/>
            <a:ext cx="3414845" cy="2125718"/>
          </a:xfrm>
          <a:custGeom>
            <a:avLst/>
            <a:gdLst/>
            <a:ahLst/>
            <a:cxnLst/>
            <a:rect l="l" t="t" r="r" b="b"/>
            <a:pathLst>
              <a:path w="3414845" h="2125718">
                <a:moveTo>
                  <a:pt x="0" y="0"/>
                </a:moveTo>
                <a:lnTo>
                  <a:pt x="3414845" y="0"/>
                </a:lnTo>
                <a:lnTo>
                  <a:pt x="3414845" y="2125718"/>
                </a:lnTo>
                <a:lnTo>
                  <a:pt x="0" y="2125718"/>
                </a:lnTo>
                <a:lnTo>
                  <a:pt x="0" y="0"/>
                </a:lnTo>
                <a:close/>
              </a:path>
            </a:pathLst>
          </a:custGeom>
          <a:blipFill>
            <a:blip r:embed="rId4"/>
            <a:stretch>
              <a:fillRect t="-3548" b="-3548"/>
            </a:stretch>
          </a:blipFill>
        </p:spPr>
      </p:sp>
      <p:sp>
        <p:nvSpPr>
          <p:cNvPr id="5" name="Freeform 5"/>
          <p:cNvSpPr/>
          <p:nvPr/>
        </p:nvSpPr>
        <p:spPr>
          <a:xfrm>
            <a:off x="4327841" y="6355760"/>
            <a:ext cx="3281035" cy="2230025"/>
          </a:xfrm>
          <a:custGeom>
            <a:avLst/>
            <a:gdLst/>
            <a:ahLst/>
            <a:cxnLst/>
            <a:rect l="l" t="t" r="r" b="b"/>
            <a:pathLst>
              <a:path w="3281035" h="2230025">
                <a:moveTo>
                  <a:pt x="0" y="0"/>
                </a:moveTo>
                <a:lnTo>
                  <a:pt x="3281035" y="0"/>
                </a:lnTo>
                <a:lnTo>
                  <a:pt x="3281035" y="2230025"/>
                </a:lnTo>
                <a:lnTo>
                  <a:pt x="0" y="2230025"/>
                </a:lnTo>
                <a:lnTo>
                  <a:pt x="0" y="0"/>
                </a:lnTo>
                <a:close/>
              </a:path>
            </a:pathLst>
          </a:custGeom>
          <a:blipFill>
            <a:blip r:embed="rId5"/>
            <a:stretch>
              <a:fillRect t="-23564" b="-23564"/>
            </a:stretch>
          </a:blipFill>
        </p:spPr>
      </p:sp>
      <p:sp>
        <p:nvSpPr>
          <p:cNvPr id="6" name="Freeform 6"/>
          <p:cNvSpPr/>
          <p:nvPr/>
        </p:nvSpPr>
        <p:spPr>
          <a:xfrm>
            <a:off x="10807687" y="6495001"/>
            <a:ext cx="3136175" cy="2090784"/>
          </a:xfrm>
          <a:custGeom>
            <a:avLst/>
            <a:gdLst/>
            <a:ahLst/>
            <a:cxnLst/>
            <a:rect l="l" t="t" r="r" b="b"/>
            <a:pathLst>
              <a:path w="3136175" h="2090784">
                <a:moveTo>
                  <a:pt x="0" y="0"/>
                </a:moveTo>
                <a:lnTo>
                  <a:pt x="3136175" y="0"/>
                </a:lnTo>
                <a:lnTo>
                  <a:pt x="3136175" y="2090784"/>
                </a:lnTo>
                <a:lnTo>
                  <a:pt x="0" y="2090784"/>
                </a:lnTo>
                <a:lnTo>
                  <a:pt x="0" y="0"/>
                </a:lnTo>
                <a:close/>
              </a:path>
            </a:pathLst>
          </a:custGeom>
          <a:blipFill>
            <a:blip r:embed="rId6"/>
            <a:stretch>
              <a:fillRect/>
            </a:stretch>
          </a:blipFill>
        </p:spPr>
      </p:sp>
      <p:sp>
        <p:nvSpPr>
          <p:cNvPr id="7" name="TextBox 7"/>
          <p:cNvSpPr txBox="1"/>
          <p:nvPr/>
        </p:nvSpPr>
        <p:spPr>
          <a:xfrm>
            <a:off x="6124433" y="814465"/>
            <a:ext cx="10232643" cy="669925"/>
          </a:xfrm>
          <a:prstGeom prst="rect">
            <a:avLst/>
          </a:prstGeom>
        </p:spPr>
        <p:txBody>
          <a:bodyPr lIns="0" tIns="0" rIns="0" bIns="0" rtlCol="0" anchor="t">
            <a:spAutoFit/>
          </a:bodyPr>
          <a:lstStyle/>
          <a:p>
            <a:pPr algn="l">
              <a:lnSpc>
                <a:spcPts val="5599"/>
              </a:lnSpc>
            </a:pPr>
            <a:r>
              <a:rPr lang="en-US" sz="3999" b="1" spc="-383">
                <a:solidFill>
                  <a:srgbClr val="DD1111"/>
                </a:solidFill>
                <a:latin typeface="Garet Ultra-Bold"/>
                <a:ea typeface="Garet Ultra-Bold"/>
                <a:cs typeface="Garet Ultra-Bold"/>
                <a:sym typeface="Garet Ultra-Bold"/>
              </a:rPr>
              <a:t>SUGGESTED COUNTRIES</a:t>
            </a:r>
          </a:p>
        </p:txBody>
      </p:sp>
      <p:sp>
        <p:nvSpPr>
          <p:cNvPr id="8" name="TextBox 8"/>
          <p:cNvSpPr txBox="1"/>
          <p:nvPr/>
        </p:nvSpPr>
        <p:spPr>
          <a:xfrm>
            <a:off x="2912164" y="5120379"/>
            <a:ext cx="2831353" cy="337023"/>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QATAR</a:t>
            </a:r>
          </a:p>
        </p:txBody>
      </p:sp>
      <p:sp>
        <p:nvSpPr>
          <p:cNvPr id="9" name="TextBox 9"/>
          <p:cNvSpPr txBox="1"/>
          <p:nvPr/>
        </p:nvSpPr>
        <p:spPr>
          <a:xfrm>
            <a:off x="12055290" y="8896773"/>
            <a:ext cx="2831353" cy="675429"/>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INDIA</a:t>
            </a:r>
          </a:p>
          <a:p>
            <a:pPr algn="l">
              <a:lnSpc>
                <a:spcPts val="2701"/>
              </a:lnSpc>
            </a:pPr>
            <a:endParaRPr lang="en-US" sz="1929" b="1">
              <a:solidFill>
                <a:srgbClr val="FFFFFF"/>
              </a:solidFill>
              <a:latin typeface="Canva Sans Bold"/>
              <a:ea typeface="Canva Sans Bold"/>
              <a:cs typeface="Canva Sans Bold"/>
              <a:sym typeface="Canva Sans Bold"/>
            </a:endParaRPr>
          </a:p>
        </p:txBody>
      </p:sp>
      <p:sp>
        <p:nvSpPr>
          <p:cNvPr id="10" name="TextBox 10"/>
          <p:cNvSpPr txBox="1"/>
          <p:nvPr/>
        </p:nvSpPr>
        <p:spPr>
          <a:xfrm>
            <a:off x="5344975" y="8896773"/>
            <a:ext cx="2831353" cy="675429"/>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SRI LANKA</a:t>
            </a:r>
          </a:p>
          <a:p>
            <a:pPr algn="l">
              <a:lnSpc>
                <a:spcPts val="2701"/>
              </a:lnSpc>
            </a:pPr>
            <a:endParaRPr lang="en-US" sz="1929" b="1">
              <a:solidFill>
                <a:srgbClr val="FFFFFF"/>
              </a:solidFill>
              <a:latin typeface="Canva Sans Bold"/>
              <a:ea typeface="Canva Sans Bold"/>
              <a:cs typeface="Canva Sans Bold"/>
              <a:sym typeface="Canva Sans Bold"/>
            </a:endParaRPr>
          </a:p>
        </p:txBody>
      </p:sp>
      <p:sp>
        <p:nvSpPr>
          <p:cNvPr id="11" name="TextBox 11"/>
          <p:cNvSpPr txBox="1"/>
          <p:nvPr/>
        </p:nvSpPr>
        <p:spPr>
          <a:xfrm>
            <a:off x="13943862" y="5095875"/>
            <a:ext cx="2831353" cy="337023"/>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SINGAPORE</a:t>
            </a:r>
          </a:p>
        </p:txBody>
      </p:sp>
      <p:sp>
        <p:nvSpPr>
          <p:cNvPr id="12" name="TextBox 12"/>
          <p:cNvSpPr txBox="1"/>
          <p:nvPr/>
        </p:nvSpPr>
        <p:spPr>
          <a:xfrm>
            <a:off x="8671105" y="5095875"/>
            <a:ext cx="2831353" cy="675429"/>
          </a:xfrm>
          <a:prstGeom prst="rect">
            <a:avLst/>
          </a:prstGeom>
        </p:spPr>
        <p:txBody>
          <a:bodyPr lIns="0" tIns="0" rIns="0" bIns="0" rtlCol="0" anchor="t">
            <a:spAutoFit/>
          </a:bodyPr>
          <a:lstStyle/>
          <a:p>
            <a:pPr algn="l">
              <a:lnSpc>
                <a:spcPts val="2701"/>
              </a:lnSpc>
            </a:pPr>
            <a:r>
              <a:rPr lang="en-US" sz="1929" b="1">
                <a:solidFill>
                  <a:srgbClr val="FFFFFF"/>
                </a:solidFill>
                <a:latin typeface="Canva Sans Bold"/>
                <a:ea typeface="Canva Sans Bold"/>
                <a:cs typeface="Canva Sans Bold"/>
                <a:sym typeface="Canva Sans Bold"/>
              </a:rPr>
              <a:t>CANADA</a:t>
            </a:r>
          </a:p>
          <a:p>
            <a:pPr algn="l">
              <a:lnSpc>
                <a:spcPts val="2701"/>
              </a:lnSpc>
            </a:pPr>
            <a:endParaRPr lang="en-US" sz="1929" b="1">
              <a:solidFill>
                <a:srgbClr val="FFFFFF"/>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TextBox 2"/>
          <p:cNvSpPr txBox="1"/>
          <p:nvPr/>
        </p:nvSpPr>
        <p:spPr>
          <a:xfrm>
            <a:off x="4027678" y="762556"/>
            <a:ext cx="10232643"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Ultra-Bold"/>
                <a:ea typeface="Garet Ultra-Bold"/>
                <a:cs typeface="Garet Ultra-Bold"/>
                <a:sym typeface="Garet Ultra-Bold"/>
              </a:rPr>
              <a:t>CITIES IN SUGGESTED COUNTRIES</a:t>
            </a:r>
          </a:p>
        </p:txBody>
      </p:sp>
      <p:sp>
        <p:nvSpPr>
          <p:cNvPr id="3" name="TextBox 3"/>
          <p:cNvSpPr txBox="1"/>
          <p:nvPr/>
        </p:nvSpPr>
        <p:spPr>
          <a:xfrm>
            <a:off x="3298725" y="2270684"/>
            <a:ext cx="12908802" cy="4303312"/>
          </a:xfrm>
          <a:prstGeom prst="rect">
            <a:avLst/>
          </a:prstGeom>
        </p:spPr>
        <p:txBody>
          <a:bodyPr lIns="0" tIns="0" rIns="0" bIns="0" rtlCol="0" anchor="t">
            <a:spAutoFit/>
          </a:bodyPr>
          <a:lstStyle/>
          <a:p>
            <a:pPr marL="734059" lvl="1" indent="-367030" algn="l">
              <a:lnSpc>
                <a:spcPts val="4759"/>
              </a:lnSpc>
              <a:buAutoNum type="arabicPeriod"/>
            </a:pPr>
            <a:r>
              <a:rPr lang="en-US" sz="3399">
                <a:solidFill>
                  <a:srgbClr val="FFFFFF"/>
                </a:solidFill>
                <a:latin typeface="Canva Sans"/>
                <a:ea typeface="Canva Sans"/>
                <a:cs typeface="Canva Sans"/>
                <a:sym typeface="Canva Sans"/>
              </a:rPr>
              <a:t>     QATAR -DOHA</a:t>
            </a:r>
          </a:p>
          <a:p>
            <a:pPr marL="734059" lvl="1" indent="-367030" algn="just">
              <a:lnSpc>
                <a:spcPts val="4759"/>
              </a:lnSpc>
              <a:buAutoNum type="arabicPeriod"/>
            </a:pPr>
            <a:r>
              <a:rPr lang="en-US" sz="3399">
                <a:solidFill>
                  <a:srgbClr val="FFFFFF"/>
                </a:solidFill>
                <a:latin typeface="Canva Sans"/>
                <a:ea typeface="Canva Sans"/>
                <a:cs typeface="Canva Sans"/>
                <a:sym typeface="Canva Sans"/>
              </a:rPr>
              <a:t>     CANADA - CONSORT, YORKTON</a:t>
            </a:r>
          </a:p>
          <a:p>
            <a:pPr marL="734059" lvl="1" indent="-367030" algn="just">
              <a:lnSpc>
                <a:spcPts val="4759"/>
              </a:lnSpc>
              <a:buAutoNum type="arabicPeriod"/>
            </a:pPr>
            <a:r>
              <a:rPr lang="en-US" sz="3399">
                <a:solidFill>
                  <a:srgbClr val="FFFFFF"/>
                </a:solidFill>
                <a:latin typeface="Canva Sans"/>
                <a:ea typeface="Canva Sans"/>
                <a:cs typeface="Canva Sans"/>
                <a:sym typeface="Canva Sans"/>
              </a:rPr>
              <a:t>     SINGAPORE - SINGAPORE</a:t>
            </a:r>
          </a:p>
          <a:p>
            <a:pPr marL="734059" lvl="1" indent="-367030" algn="just">
              <a:lnSpc>
                <a:spcPts val="4759"/>
              </a:lnSpc>
              <a:buAutoNum type="arabicPeriod"/>
            </a:pPr>
            <a:r>
              <a:rPr lang="en-US" sz="3399">
                <a:solidFill>
                  <a:srgbClr val="FFFFFF"/>
                </a:solidFill>
                <a:latin typeface="Canva Sans"/>
                <a:ea typeface="Canva Sans"/>
                <a:cs typeface="Canva Sans"/>
                <a:sym typeface="Canva Sans"/>
              </a:rPr>
              <a:t>     SRI LANKA - COLOMBO</a:t>
            </a:r>
          </a:p>
          <a:p>
            <a:pPr marL="734059" lvl="1" indent="-367030" algn="just">
              <a:lnSpc>
                <a:spcPts val="4759"/>
              </a:lnSpc>
              <a:buAutoNum type="arabicPeriod"/>
            </a:pPr>
            <a:r>
              <a:rPr lang="en-US" sz="3399">
                <a:solidFill>
                  <a:srgbClr val="FFFFFF"/>
                </a:solidFill>
                <a:latin typeface="Canva Sans"/>
                <a:ea typeface="Canva Sans"/>
                <a:cs typeface="Canva Sans"/>
                <a:sym typeface="Canva Sans"/>
              </a:rPr>
              <a:t>     INDIA- GHAZIABAD, AURANGABAD, ALLAHABAD.</a:t>
            </a:r>
          </a:p>
          <a:p>
            <a:pPr algn="ctr">
              <a:lnSpc>
                <a:spcPts val="4759"/>
              </a:lnSpc>
            </a:pPr>
            <a:endParaRPr lang="en-US" sz="3399">
              <a:solidFill>
                <a:srgbClr val="FFFFFF"/>
              </a:solidFill>
              <a:latin typeface="Canva Sans"/>
              <a:ea typeface="Canva Sans"/>
              <a:cs typeface="Canva Sans"/>
              <a:sym typeface="Canva Sans"/>
            </a:endParaRPr>
          </a:p>
          <a:p>
            <a:pPr algn="ctr">
              <a:lnSpc>
                <a:spcPts val="2809"/>
              </a:lnSpc>
            </a:pPr>
            <a:endParaRPr lang="en-US" sz="3399">
              <a:solidFill>
                <a:srgbClr val="FFFFFF"/>
              </a:solidFill>
              <a:latin typeface="Canva Sans"/>
              <a:ea typeface="Canva Sans"/>
              <a:cs typeface="Canva Sans"/>
              <a:sym typeface="Canva Sans"/>
            </a:endParaRPr>
          </a:p>
          <a:p>
            <a:pPr algn="ctr">
              <a:lnSpc>
                <a:spcPts val="2809"/>
              </a:lnSpc>
            </a:pPr>
            <a:r>
              <a:rPr lang="en-US" sz="2006">
                <a:solidFill>
                  <a:srgbClr val="FFFFFF"/>
                </a:solidFill>
                <a:latin typeface="Canva Sans"/>
                <a:ea typeface="Canva Sans"/>
                <a:cs typeface="Canva Sans"/>
                <a:sym typeface="Canva Sans"/>
              </a:rPr>
              <a:t> </a:t>
            </a:r>
          </a:p>
        </p:txBody>
      </p:sp>
      <p:sp>
        <p:nvSpPr>
          <p:cNvPr id="4" name="Freeform 4"/>
          <p:cNvSpPr/>
          <p:nvPr/>
        </p:nvSpPr>
        <p:spPr>
          <a:xfrm flipH="1" flipV="1">
            <a:off x="13513140" y="7899570"/>
            <a:ext cx="4774860" cy="2387430"/>
          </a:xfrm>
          <a:custGeom>
            <a:avLst/>
            <a:gdLst/>
            <a:ahLst/>
            <a:cxnLst/>
            <a:rect l="l" t="t" r="r" b="b"/>
            <a:pathLst>
              <a:path w="4774860" h="2387430">
                <a:moveTo>
                  <a:pt x="4774860" y="2387430"/>
                </a:moveTo>
                <a:lnTo>
                  <a:pt x="0" y="2387430"/>
                </a:lnTo>
                <a:lnTo>
                  <a:pt x="0" y="0"/>
                </a:lnTo>
                <a:lnTo>
                  <a:pt x="4774860" y="0"/>
                </a:lnTo>
                <a:lnTo>
                  <a:pt x="4774860" y="238743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flipV="1">
            <a:off x="0" y="838756"/>
            <a:ext cx="2771206" cy="569357"/>
          </a:xfrm>
          <a:custGeom>
            <a:avLst/>
            <a:gdLst/>
            <a:ahLst/>
            <a:cxnLst/>
            <a:rect l="l" t="t" r="r" b="b"/>
            <a:pathLst>
              <a:path w="2771206" h="569357">
                <a:moveTo>
                  <a:pt x="0" y="569356"/>
                </a:moveTo>
                <a:lnTo>
                  <a:pt x="2771206" y="569356"/>
                </a:lnTo>
                <a:lnTo>
                  <a:pt x="2771206" y="0"/>
                </a:lnTo>
                <a:lnTo>
                  <a:pt x="0" y="0"/>
                </a:lnTo>
                <a:lnTo>
                  <a:pt x="0" y="569356"/>
                </a:lnTo>
                <a:close/>
              </a:path>
            </a:pathLst>
          </a:custGeom>
          <a:blipFill>
            <a:blip r:embed="rId4">
              <a:extLst>
                <a:ext uri="{96DAC541-7B7A-43D3-8B79-37D633B846F1}">
                  <asvg:svgBlip xmlns="" xmlns:asvg="http://schemas.microsoft.com/office/drawing/2016/SVG/main" r:embed="rId5"/>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Freeform 2"/>
          <p:cNvSpPr/>
          <p:nvPr/>
        </p:nvSpPr>
        <p:spPr>
          <a:xfrm>
            <a:off x="4842280" y="1676691"/>
            <a:ext cx="7791666" cy="4119537"/>
          </a:xfrm>
          <a:custGeom>
            <a:avLst/>
            <a:gdLst/>
            <a:ahLst/>
            <a:cxnLst/>
            <a:rect l="l" t="t" r="r" b="b"/>
            <a:pathLst>
              <a:path w="7791666" h="4119537">
                <a:moveTo>
                  <a:pt x="0" y="0"/>
                </a:moveTo>
                <a:lnTo>
                  <a:pt x="7791666" y="0"/>
                </a:lnTo>
                <a:lnTo>
                  <a:pt x="7791666" y="4119537"/>
                </a:lnTo>
                <a:lnTo>
                  <a:pt x="0" y="4119537"/>
                </a:lnTo>
                <a:lnTo>
                  <a:pt x="0" y="0"/>
                </a:lnTo>
                <a:close/>
              </a:path>
            </a:pathLst>
          </a:custGeom>
          <a:blipFill>
            <a:blip r:embed="rId2"/>
            <a:stretch>
              <a:fillRect b="-2608"/>
            </a:stretch>
          </a:blipFill>
        </p:spPr>
      </p:sp>
      <p:sp>
        <p:nvSpPr>
          <p:cNvPr id="3" name="TextBox 3"/>
          <p:cNvSpPr txBox="1"/>
          <p:nvPr/>
        </p:nvSpPr>
        <p:spPr>
          <a:xfrm>
            <a:off x="2818320" y="659130"/>
            <a:ext cx="13890636"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Ultra-Bold"/>
                <a:ea typeface="Garet Ultra-Bold"/>
                <a:cs typeface="Garet Ultra-Bold"/>
                <a:sym typeface="Garet Ultra-Bold"/>
              </a:rPr>
              <a:t>TOTAL  NUMBER  OF  RESTAURANTS  FROM  EACH  COUNTRY</a:t>
            </a:r>
          </a:p>
        </p:txBody>
      </p:sp>
      <p:sp>
        <p:nvSpPr>
          <p:cNvPr id="4" name="TextBox 4"/>
          <p:cNvSpPr txBox="1"/>
          <p:nvPr/>
        </p:nvSpPr>
        <p:spPr>
          <a:xfrm>
            <a:off x="2333428" y="6101028"/>
            <a:ext cx="13621145" cy="3489325"/>
          </a:xfrm>
          <a:prstGeom prst="rect">
            <a:avLst/>
          </a:prstGeom>
        </p:spPr>
        <p:txBody>
          <a:bodyPr lIns="0" tIns="0" rIns="0" bIns="0" rtlCol="0" anchor="t">
            <a:spAutoFit/>
          </a:bodyPr>
          <a:lstStyle/>
          <a:p>
            <a:pPr algn="just">
              <a:lnSpc>
                <a:spcPts val="3499"/>
              </a:lnSpc>
              <a:spcBef>
                <a:spcPct val="0"/>
              </a:spcBef>
            </a:pPr>
            <a:r>
              <a:rPr lang="en-US" sz="2499" b="1">
                <a:solidFill>
                  <a:srgbClr val="FFFFFF"/>
                </a:solidFill>
                <a:latin typeface="Canva Sans Bold"/>
                <a:ea typeface="Canva Sans Bold"/>
                <a:cs typeface="Canva Sans Bold"/>
                <a:sym typeface="Canva Sans Bold"/>
              </a:rPr>
              <a:t>India leads the list with a massive 8,542 restaurants, making it the biggest food hub by far. The USA comes next with 425 restaurants, followed by the UK with 80. Countries like Brazil, South Africa, and the UAE each have around 60, offering a fair variety of options, while others such as Turkey (34), New Zealand (40), and Australia (24) contribute smaller but interesting selections. At the lower end, places like Canada, Qatar, Singapore, and Sri Lanka have only a handful of restaurants, but each brings its own unique flavors to the table. Altogether, these countries add up to a total of 9,542 restaurants worldwide, showcasing a rich mix of global cuisines.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321780"/>
            <a:ext cx="7731528" cy="4812876"/>
          </a:xfrm>
          <a:custGeom>
            <a:avLst/>
            <a:gdLst/>
            <a:ahLst/>
            <a:cxnLst/>
            <a:rect l="l" t="t" r="r" b="b"/>
            <a:pathLst>
              <a:path w="7731528" h="4812876">
                <a:moveTo>
                  <a:pt x="0" y="0"/>
                </a:moveTo>
                <a:lnTo>
                  <a:pt x="7731528" y="0"/>
                </a:lnTo>
                <a:lnTo>
                  <a:pt x="7731528" y="4812876"/>
                </a:lnTo>
                <a:lnTo>
                  <a:pt x="0" y="4812876"/>
                </a:lnTo>
                <a:lnTo>
                  <a:pt x="0" y="0"/>
                </a:lnTo>
                <a:close/>
              </a:path>
            </a:pathLst>
          </a:custGeom>
          <a:blipFill>
            <a:blip r:embed="rId2"/>
            <a:stretch>
              <a:fillRect/>
            </a:stretch>
          </a:blipFill>
        </p:spPr>
      </p:sp>
      <p:sp>
        <p:nvSpPr>
          <p:cNvPr id="3" name="TextBox 3"/>
          <p:cNvSpPr txBox="1"/>
          <p:nvPr/>
        </p:nvSpPr>
        <p:spPr>
          <a:xfrm>
            <a:off x="4235090" y="650875"/>
            <a:ext cx="11100002" cy="679449"/>
          </a:xfrm>
          <a:prstGeom prst="rect">
            <a:avLst/>
          </a:prstGeom>
        </p:spPr>
        <p:txBody>
          <a:bodyPr lIns="0" tIns="0" rIns="0" bIns="0" rtlCol="0" anchor="t">
            <a:spAutoFit/>
          </a:bodyPr>
          <a:lstStyle/>
          <a:p>
            <a:pPr algn="l">
              <a:lnSpc>
                <a:spcPts val="5600"/>
              </a:lnSpc>
            </a:pPr>
            <a:r>
              <a:rPr lang="en-US" sz="4000" b="1" spc="-384">
                <a:solidFill>
                  <a:srgbClr val="DD1111"/>
                </a:solidFill>
                <a:latin typeface="Garet Ultra-Bold"/>
                <a:ea typeface="Garet Ultra-Bold"/>
                <a:cs typeface="Garet Ultra-Bold"/>
                <a:sym typeface="Garet Ultra-Bold"/>
              </a:rPr>
              <a:t>TOTAL NUMBER OF RESTAURANTS YEARWISE</a:t>
            </a:r>
          </a:p>
        </p:txBody>
      </p:sp>
      <p:sp>
        <p:nvSpPr>
          <p:cNvPr id="4" name="TextBox 4"/>
          <p:cNvSpPr txBox="1"/>
          <p:nvPr/>
        </p:nvSpPr>
        <p:spPr>
          <a:xfrm>
            <a:off x="9144000" y="2434337"/>
            <a:ext cx="9144000" cy="4559186"/>
          </a:xfrm>
          <a:prstGeom prst="rect">
            <a:avLst/>
          </a:prstGeom>
        </p:spPr>
        <p:txBody>
          <a:bodyPr lIns="0" tIns="0" rIns="0" bIns="0" rtlCol="0" anchor="t">
            <a:spAutoFit/>
          </a:bodyPr>
          <a:lstStyle/>
          <a:p>
            <a:pPr algn="l">
              <a:lnSpc>
                <a:spcPts val="2281"/>
              </a:lnSpc>
              <a:spcBef>
                <a:spcPct val="0"/>
              </a:spcBef>
            </a:pPr>
            <a:r>
              <a:rPr lang="en-US" sz="1629" b="1">
                <a:solidFill>
                  <a:srgbClr val="DD1111"/>
                </a:solidFill>
                <a:latin typeface="Canva Sans Bold"/>
                <a:ea typeface="Canva Sans Bold"/>
                <a:cs typeface="Canva Sans Bold"/>
                <a:sym typeface="Canva Sans Bold"/>
              </a:rPr>
              <a:t>2010: THE YEAR BEGAN WITH 1,079 RESTAURANTS, SETTING A STRONG BASE FOR THE FOLLOWING YEARS.</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2011: SLIGHT GROWTH TO 1,096 RESTAURANTS, SHOWING A SMALL BUT POSITIVE INCREASE.</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2012: A DROP TO 1,022 RESTAURANTS, THE LOWEST IN THE DATASET, POSSIBLY DUE TO CLOSURES OR REDUCED OPENINGS.</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2013: NUMBERS BOUNCED BACK TO 1,059, RECOVERING FROM THE PREVIOUS YEAR’S DIP.</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2014: SLIGHT DECREASE TO 1,049, MAINTAINING A STABLE PRESENCE OVERALL.</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2015: SMALL DROP TO 1,023, MARKING ANOTHER LOW POINT CLOSE TO 2012’S FIGURES.</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2016: MINOR IMPROVEMENT TO 1,026 RESTAURANTS, SHOWING STEADY STABILITY.</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2017: GROWTH TO 1,086 RESTAURANTS, ONE OF THE STRONGER YEARS IN THE SERIES.</a:t>
            </a:r>
          </a:p>
          <a:p>
            <a:pPr algn="l">
              <a:lnSpc>
                <a:spcPts val="2281"/>
              </a:lnSpc>
              <a:spcBef>
                <a:spcPct val="0"/>
              </a:spcBef>
            </a:pPr>
            <a:r>
              <a:rPr lang="en-US" sz="1629" b="1">
                <a:solidFill>
                  <a:srgbClr val="DD1111"/>
                </a:solidFill>
                <a:latin typeface="Canva Sans Bold"/>
                <a:ea typeface="Canva Sans Bold"/>
                <a:cs typeface="Canva Sans Bold"/>
                <a:sym typeface="Canva Sans Bold"/>
              </a:rPr>
              <a:t>2018: REACHED THE HIGHEST COUNT AT 1,102 RESTAURANTS, MARKING THE PEAK IN THIS NINE-YEAR SPAN.</a:t>
            </a:r>
          </a:p>
          <a:p>
            <a:pPr algn="l">
              <a:lnSpc>
                <a:spcPts val="2281"/>
              </a:lnSpc>
              <a:spcBef>
                <a:spcPct val="0"/>
              </a:spcBef>
            </a:pPr>
            <a:r>
              <a:rPr lang="en-US" sz="1629" b="1">
                <a:solidFill>
                  <a:srgbClr val="DD1111"/>
                </a:solidFill>
                <a:latin typeface="Canva Sans Bold"/>
                <a:ea typeface="Canva Sans Bold"/>
                <a:cs typeface="Canva Sans Bold"/>
                <a:sym typeface="Canva Sans Bold"/>
              </a:rPr>
              <a:t>OVERALL: THE PERIOD SHOWS CONSISTENT NUMBERS WITH MINOR FLUCTUATIONS, TOTALING 9,542 RESTAURANTS ACROSS ALL YEARS.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Freeform 2"/>
          <p:cNvSpPr/>
          <p:nvPr/>
        </p:nvSpPr>
        <p:spPr>
          <a:xfrm>
            <a:off x="727010" y="1898115"/>
            <a:ext cx="8416990" cy="5505864"/>
          </a:xfrm>
          <a:custGeom>
            <a:avLst/>
            <a:gdLst/>
            <a:ahLst/>
            <a:cxnLst/>
            <a:rect l="l" t="t" r="r" b="b"/>
            <a:pathLst>
              <a:path w="8416990" h="5505864">
                <a:moveTo>
                  <a:pt x="0" y="0"/>
                </a:moveTo>
                <a:lnTo>
                  <a:pt x="8416990" y="0"/>
                </a:lnTo>
                <a:lnTo>
                  <a:pt x="8416990" y="5505864"/>
                </a:lnTo>
                <a:lnTo>
                  <a:pt x="0" y="5505864"/>
                </a:lnTo>
                <a:lnTo>
                  <a:pt x="0" y="0"/>
                </a:lnTo>
                <a:close/>
              </a:path>
            </a:pathLst>
          </a:custGeom>
          <a:blipFill>
            <a:blip r:embed="rId2"/>
            <a:stretch>
              <a:fillRect b="-705"/>
            </a:stretch>
          </a:blipFill>
        </p:spPr>
      </p:sp>
      <p:sp>
        <p:nvSpPr>
          <p:cNvPr id="3" name="TextBox 3"/>
          <p:cNvSpPr txBox="1"/>
          <p:nvPr/>
        </p:nvSpPr>
        <p:spPr>
          <a:xfrm>
            <a:off x="3593999" y="349251"/>
            <a:ext cx="13400390"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Ultra-Bold"/>
                <a:ea typeface="Garet Ultra-Bold"/>
                <a:cs typeface="Garet Ultra-Bold"/>
                <a:sym typeface="Garet Ultra-Bold"/>
              </a:rPr>
              <a:t>AVERAGE  RATING  OF RESTAURANTS COUNTRYWISE</a:t>
            </a:r>
          </a:p>
        </p:txBody>
      </p:sp>
      <p:sp>
        <p:nvSpPr>
          <p:cNvPr id="4" name="TextBox 4"/>
          <p:cNvSpPr txBox="1"/>
          <p:nvPr/>
        </p:nvSpPr>
        <p:spPr>
          <a:xfrm>
            <a:off x="9670694" y="1850490"/>
            <a:ext cx="8617306" cy="6148989"/>
          </a:xfrm>
          <a:prstGeom prst="rect">
            <a:avLst/>
          </a:prstGeom>
        </p:spPr>
        <p:txBody>
          <a:bodyPr lIns="0" tIns="0" rIns="0" bIns="0" rtlCol="0" anchor="t">
            <a:spAutoFit/>
          </a:bodyPr>
          <a:lstStyle/>
          <a:p>
            <a:pPr algn="l">
              <a:lnSpc>
                <a:spcPts val="2854"/>
              </a:lnSpc>
              <a:spcBef>
                <a:spcPct val="0"/>
              </a:spcBef>
            </a:pPr>
            <a:r>
              <a:rPr lang="en-US" sz="2038" b="1">
                <a:solidFill>
                  <a:srgbClr val="FFFFFF"/>
                </a:solidFill>
                <a:latin typeface="Canva Sans Bold"/>
                <a:ea typeface="Canva Sans Bold"/>
                <a:cs typeface="Canva Sans Bold"/>
                <a:sym typeface="Canva Sans Bold"/>
              </a:rPr>
              <a:t>HIGHEST RATINGS: THE PHILIPPINES LEADS WITH THE HIGHEST AVERAGE RATING OF 4.5, FOLLOWED BY INDONESIA, NEW ZEALAND, AND TURKEY AT 4.3 EACH.</a:t>
            </a:r>
          </a:p>
          <a:p>
            <a:pPr algn="l">
              <a:lnSpc>
                <a:spcPts val="2854"/>
              </a:lnSpc>
              <a:spcBef>
                <a:spcPct val="0"/>
              </a:spcBef>
            </a:pPr>
            <a:r>
              <a:rPr lang="en-US" sz="2038" b="1">
                <a:solidFill>
                  <a:srgbClr val="FFFFFF"/>
                </a:solidFill>
                <a:latin typeface="Canva Sans Bold"/>
                <a:ea typeface="Canva Sans Bold"/>
                <a:cs typeface="Canva Sans Bold"/>
                <a:sym typeface="Canva Sans Bold"/>
              </a:rPr>
              <a:t>STRONG PERFORMERS: SOUTH AFRICA AND THE UAE HAVE 4.2, WHILE QATAR AND THE UK SCORE 4.1.</a:t>
            </a:r>
          </a:p>
          <a:p>
            <a:pPr algn="l">
              <a:lnSpc>
                <a:spcPts val="2854"/>
              </a:lnSpc>
              <a:spcBef>
                <a:spcPct val="0"/>
              </a:spcBef>
            </a:pPr>
            <a:endParaRPr lang="en-US" sz="2038" b="1">
              <a:solidFill>
                <a:srgbClr val="FFFFFF"/>
              </a:solidFill>
              <a:latin typeface="Canva Sans Bold"/>
              <a:ea typeface="Canva Sans Bold"/>
              <a:cs typeface="Canva Sans Bold"/>
              <a:sym typeface="Canva Sans Bold"/>
            </a:endParaRPr>
          </a:p>
          <a:p>
            <a:pPr algn="l">
              <a:lnSpc>
                <a:spcPts val="2854"/>
              </a:lnSpc>
              <a:spcBef>
                <a:spcPct val="0"/>
              </a:spcBef>
            </a:pPr>
            <a:r>
              <a:rPr lang="en-US" sz="2038" b="1">
                <a:solidFill>
                  <a:srgbClr val="FFFFFF"/>
                </a:solidFill>
                <a:latin typeface="Canva Sans Bold"/>
                <a:ea typeface="Canva Sans Bold"/>
                <a:cs typeface="Canva Sans Bold"/>
                <a:sym typeface="Canva Sans Bold"/>
              </a:rPr>
              <a:t>MID-RANGE RATINGS: THE USA AVERAGES 4.0, SRI LANKA 3.9, AND BRAZIL 3.8.</a:t>
            </a:r>
          </a:p>
          <a:p>
            <a:pPr algn="l">
              <a:lnSpc>
                <a:spcPts val="2854"/>
              </a:lnSpc>
              <a:spcBef>
                <a:spcPct val="0"/>
              </a:spcBef>
            </a:pPr>
            <a:endParaRPr lang="en-US" sz="2038" b="1">
              <a:solidFill>
                <a:srgbClr val="FFFFFF"/>
              </a:solidFill>
              <a:latin typeface="Canva Sans Bold"/>
              <a:ea typeface="Canva Sans Bold"/>
              <a:cs typeface="Canva Sans Bold"/>
              <a:sym typeface="Canva Sans Bold"/>
            </a:endParaRPr>
          </a:p>
          <a:p>
            <a:pPr algn="l">
              <a:lnSpc>
                <a:spcPts val="2854"/>
              </a:lnSpc>
              <a:spcBef>
                <a:spcPct val="0"/>
              </a:spcBef>
            </a:pPr>
            <a:r>
              <a:rPr lang="en-US" sz="2038" b="1">
                <a:solidFill>
                  <a:srgbClr val="FFFFFF"/>
                </a:solidFill>
                <a:latin typeface="Canva Sans Bold"/>
                <a:ea typeface="Canva Sans Bold"/>
                <a:cs typeface="Canva Sans Bold"/>
                <a:sym typeface="Canva Sans Bold"/>
              </a:rPr>
              <a:t>LOWER RATINGS: AUSTRALIA AND SINGAPORE SHARE 3.6–3.7, CANADA HAS 3.6, AND INDIA RECORDS THE LOWEST AVERAGE RATING AT 2.8.</a:t>
            </a:r>
          </a:p>
          <a:p>
            <a:pPr algn="l">
              <a:lnSpc>
                <a:spcPts val="2854"/>
              </a:lnSpc>
              <a:spcBef>
                <a:spcPct val="0"/>
              </a:spcBef>
            </a:pPr>
            <a:endParaRPr lang="en-US" sz="2038" b="1">
              <a:solidFill>
                <a:srgbClr val="FFFFFF"/>
              </a:solidFill>
              <a:latin typeface="Canva Sans Bold"/>
              <a:ea typeface="Canva Sans Bold"/>
              <a:cs typeface="Canva Sans Bold"/>
              <a:sym typeface="Canva Sans Bold"/>
            </a:endParaRPr>
          </a:p>
          <a:p>
            <a:pPr algn="l">
              <a:lnSpc>
                <a:spcPts val="2854"/>
              </a:lnSpc>
              <a:spcBef>
                <a:spcPct val="0"/>
              </a:spcBef>
            </a:pPr>
            <a:r>
              <a:rPr lang="en-US" sz="2038" b="1">
                <a:solidFill>
                  <a:srgbClr val="FFFFFF"/>
                </a:solidFill>
                <a:latin typeface="Canva Sans Bold"/>
                <a:ea typeface="Canva Sans Bold"/>
                <a:cs typeface="Canva Sans Bold"/>
                <a:sym typeface="Canva Sans Bold"/>
              </a:rPr>
              <a:t>INSIGHT: MOST COUNTRIES HAVE RATINGS ABOVE 4, INDICATING GENERALLY POSITIVE DINING EXPERIENCES, BUT INDIA AND A FEW OTHERS FALL BEHIND, SUGGESTING POSSIBLE QUALITY OR SERVICE CHALLENGES.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6"/>
        </a:solidFill>
        <a:effectLst/>
      </p:bgPr>
    </p:bg>
    <p:spTree>
      <p:nvGrpSpPr>
        <p:cNvPr id="1" name=""/>
        <p:cNvGrpSpPr/>
        <p:nvPr/>
      </p:nvGrpSpPr>
      <p:grpSpPr>
        <a:xfrm>
          <a:off x="0" y="0"/>
          <a:ext cx="0" cy="0"/>
          <a:chOff x="0" y="0"/>
          <a:chExt cx="0" cy="0"/>
        </a:xfrm>
      </p:grpSpPr>
      <p:sp>
        <p:nvSpPr>
          <p:cNvPr id="2" name="Freeform 2"/>
          <p:cNvSpPr/>
          <p:nvPr/>
        </p:nvSpPr>
        <p:spPr>
          <a:xfrm>
            <a:off x="4549286" y="1518696"/>
            <a:ext cx="9899082" cy="4788681"/>
          </a:xfrm>
          <a:custGeom>
            <a:avLst/>
            <a:gdLst/>
            <a:ahLst/>
            <a:cxnLst/>
            <a:rect l="l" t="t" r="r" b="b"/>
            <a:pathLst>
              <a:path w="9899082" h="4788681">
                <a:moveTo>
                  <a:pt x="0" y="0"/>
                </a:moveTo>
                <a:lnTo>
                  <a:pt x="9899082" y="0"/>
                </a:lnTo>
                <a:lnTo>
                  <a:pt x="9899082" y="4788681"/>
                </a:lnTo>
                <a:lnTo>
                  <a:pt x="0" y="4788681"/>
                </a:lnTo>
                <a:lnTo>
                  <a:pt x="0" y="0"/>
                </a:lnTo>
                <a:close/>
              </a:path>
            </a:pathLst>
          </a:custGeom>
          <a:blipFill>
            <a:blip r:embed="rId2"/>
            <a:stretch>
              <a:fillRect/>
            </a:stretch>
          </a:blipFill>
        </p:spPr>
      </p:sp>
      <p:sp>
        <p:nvSpPr>
          <p:cNvPr id="3" name="TextBox 3"/>
          <p:cNvSpPr txBox="1"/>
          <p:nvPr/>
        </p:nvSpPr>
        <p:spPr>
          <a:xfrm>
            <a:off x="3593999" y="349251"/>
            <a:ext cx="13665301" cy="679449"/>
          </a:xfrm>
          <a:prstGeom prst="rect">
            <a:avLst/>
          </a:prstGeom>
        </p:spPr>
        <p:txBody>
          <a:bodyPr lIns="0" tIns="0" rIns="0" bIns="0" rtlCol="0" anchor="t">
            <a:spAutoFit/>
          </a:bodyPr>
          <a:lstStyle/>
          <a:p>
            <a:pPr algn="l">
              <a:lnSpc>
                <a:spcPts val="5600"/>
              </a:lnSpc>
            </a:pPr>
            <a:r>
              <a:rPr lang="en-US" sz="4000" b="1" spc="-384">
                <a:solidFill>
                  <a:srgbClr val="ED000E"/>
                </a:solidFill>
                <a:latin typeface="Garet Ultra-Bold"/>
                <a:ea typeface="Garet Ultra-Bold"/>
                <a:cs typeface="Garet Ultra-Bold"/>
                <a:sym typeface="Garet Ultra-Bold"/>
              </a:rPr>
              <a:t>AVERAGE  RATING   OF  RESTAURANTS   COUNTRYWISE</a:t>
            </a:r>
          </a:p>
        </p:txBody>
      </p:sp>
      <p:sp>
        <p:nvSpPr>
          <p:cNvPr id="4" name="TextBox 4"/>
          <p:cNvSpPr txBox="1"/>
          <p:nvPr/>
        </p:nvSpPr>
        <p:spPr>
          <a:xfrm>
            <a:off x="2244456" y="6749748"/>
            <a:ext cx="16043544" cy="2724672"/>
          </a:xfrm>
          <a:prstGeom prst="rect">
            <a:avLst/>
          </a:prstGeom>
        </p:spPr>
        <p:txBody>
          <a:bodyPr lIns="0" tIns="0" rIns="0" bIns="0" rtlCol="0" anchor="t">
            <a:spAutoFit/>
          </a:bodyPr>
          <a:lstStyle/>
          <a:p>
            <a:pPr algn="l">
              <a:lnSpc>
                <a:spcPts val="3121"/>
              </a:lnSpc>
              <a:spcBef>
                <a:spcPct val="0"/>
              </a:spcBef>
            </a:pPr>
            <a:r>
              <a:rPr lang="en-US" sz="2229" b="1">
                <a:solidFill>
                  <a:srgbClr val="ED000E"/>
                </a:solidFill>
                <a:latin typeface="Canva Sans Bold"/>
                <a:ea typeface="Canva Sans Bold"/>
                <a:cs typeface="Canva Sans Bold"/>
                <a:sym typeface="Canva Sans Bold"/>
              </a:rPr>
              <a:t>Highest Engagement: Indonesia tops the list with an impressive 772 average votes, far above other countries.</a:t>
            </a:r>
          </a:p>
          <a:p>
            <a:pPr algn="l">
              <a:lnSpc>
                <a:spcPts val="3121"/>
              </a:lnSpc>
              <a:spcBef>
                <a:spcPct val="0"/>
              </a:spcBef>
            </a:pPr>
            <a:r>
              <a:rPr lang="en-US" sz="2229" b="1">
                <a:solidFill>
                  <a:srgbClr val="ED000E"/>
                </a:solidFill>
                <a:latin typeface="Canva Sans Bold"/>
                <a:ea typeface="Canva Sans Bold"/>
                <a:cs typeface="Canva Sans Bold"/>
                <a:sym typeface="Canva Sans Bold"/>
              </a:rPr>
              <a:t>Strong Voting Activity: The UAE follows with 494, while Turkey and the USA share 431 each.</a:t>
            </a:r>
          </a:p>
          <a:p>
            <a:pPr algn="l">
              <a:lnSpc>
                <a:spcPts val="3121"/>
              </a:lnSpc>
              <a:spcBef>
                <a:spcPct val="0"/>
              </a:spcBef>
            </a:pPr>
            <a:r>
              <a:rPr lang="en-US" sz="2229" b="1">
                <a:solidFill>
                  <a:srgbClr val="ED000E"/>
                </a:solidFill>
                <a:latin typeface="Canva Sans Bold"/>
                <a:ea typeface="Canva Sans Bold"/>
                <a:cs typeface="Canva Sans Bold"/>
                <a:sym typeface="Canva Sans Bold"/>
              </a:rPr>
              <a:t>Moderate Levels: The Philippines averages 407, South Africa 315, and New Zealand 243.</a:t>
            </a:r>
          </a:p>
          <a:p>
            <a:pPr algn="l">
              <a:lnSpc>
                <a:spcPts val="3121"/>
              </a:lnSpc>
              <a:spcBef>
                <a:spcPct val="0"/>
              </a:spcBef>
            </a:pPr>
            <a:r>
              <a:rPr lang="en-US" sz="2229" b="1">
                <a:solidFill>
                  <a:srgbClr val="ED000E"/>
                </a:solidFill>
                <a:latin typeface="Canva Sans Bold"/>
                <a:ea typeface="Canva Sans Bold"/>
                <a:cs typeface="Canva Sans Bold"/>
                <a:sym typeface="Canva Sans Bold"/>
              </a:rPr>
              <a:t>Lower but Notable Votes: The UK (205), Qatar (164), Sri Lanka (146), and India (137) show moderate customer engagement.</a:t>
            </a:r>
          </a:p>
          <a:p>
            <a:pPr algn="l">
              <a:lnSpc>
                <a:spcPts val="3121"/>
              </a:lnSpc>
              <a:spcBef>
                <a:spcPct val="0"/>
              </a:spcBef>
            </a:pPr>
            <a:r>
              <a:rPr lang="en-US" sz="2229" b="1">
                <a:solidFill>
                  <a:srgbClr val="ED000E"/>
                </a:solidFill>
                <a:latin typeface="Canva Sans Bold"/>
                <a:ea typeface="Canva Sans Bold"/>
                <a:cs typeface="Canva Sans Bold"/>
                <a:sym typeface="Canva Sans Bold"/>
              </a:rPr>
              <a:t>Lowest Engagement: Australia (111), Canada (103), Singapore (32), and Brazil (20) have the smallest average voting activity.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Freeform 2"/>
          <p:cNvSpPr/>
          <p:nvPr/>
        </p:nvSpPr>
        <p:spPr>
          <a:xfrm>
            <a:off x="3857978" y="1572461"/>
            <a:ext cx="9979484" cy="4840050"/>
          </a:xfrm>
          <a:custGeom>
            <a:avLst/>
            <a:gdLst/>
            <a:ahLst/>
            <a:cxnLst/>
            <a:rect l="l" t="t" r="r" b="b"/>
            <a:pathLst>
              <a:path w="9979484" h="4840050">
                <a:moveTo>
                  <a:pt x="0" y="0"/>
                </a:moveTo>
                <a:lnTo>
                  <a:pt x="9979484" y="0"/>
                </a:lnTo>
                <a:lnTo>
                  <a:pt x="9979484" y="4840050"/>
                </a:lnTo>
                <a:lnTo>
                  <a:pt x="0" y="4840050"/>
                </a:lnTo>
                <a:lnTo>
                  <a:pt x="0" y="0"/>
                </a:lnTo>
                <a:close/>
              </a:path>
            </a:pathLst>
          </a:custGeom>
          <a:blipFill>
            <a:blip r:embed="rId2"/>
            <a:stretch>
              <a:fillRect/>
            </a:stretch>
          </a:blipFill>
        </p:spPr>
      </p:sp>
      <p:sp>
        <p:nvSpPr>
          <p:cNvPr id="3" name="TextBox 3"/>
          <p:cNvSpPr txBox="1"/>
          <p:nvPr/>
        </p:nvSpPr>
        <p:spPr>
          <a:xfrm>
            <a:off x="3857978" y="349251"/>
            <a:ext cx="13400390"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Ultra-Bold"/>
                <a:ea typeface="Garet Ultra-Bold"/>
                <a:cs typeface="Garet Ultra-Bold"/>
                <a:sym typeface="Garet Ultra-Bold"/>
              </a:rPr>
              <a:t>AVERAGE _COST_FOR_TWO    COUNTRYWISE</a:t>
            </a:r>
          </a:p>
        </p:txBody>
      </p:sp>
      <p:sp>
        <p:nvSpPr>
          <p:cNvPr id="4" name="TextBox 4"/>
          <p:cNvSpPr txBox="1"/>
          <p:nvPr/>
        </p:nvSpPr>
        <p:spPr>
          <a:xfrm>
            <a:off x="1123380" y="6917336"/>
            <a:ext cx="17164620" cy="2618861"/>
          </a:xfrm>
          <a:prstGeom prst="rect">
            <a:avLst/>
          </a:prstGeom>
        </p:spPr>
        <p:txBody>
          <a:bodyPr lIns="0" tIns="0" rIns="0" bIns="0" rtlCol="0" anchor="t">
            <a:spAutoFit/>
          </a:bodyPr>
          <a:lstStyle/>
          <a:p>
            <a:pPr algn="l">
              <a:lnSpc>
                <a:spcPts val="3035"/>
              </a:lnSpc>
              <a:spcBef>
                <a:spcPct val="0"/>
              </a:spcBef>
            </a:pPr>
            <a:r>
              <a:rPr lang="en-US" sz="2168" b="1">
                <a:solidFill>
                  <a:srgbClr val="FFFFFF"/>
                </a:solidFill>
                <a:latin typeface="Canva Sans Bold"/>
                <a:ea typeface="Canva Sans Bold"/>
                <a:cs typeface="Canva Sans Bold"/>
                <a:sym typeface="Canva Sans Bold"/>
              </a:rPr>
              <a:t>Most Expensive: Singapore stands out with the highest average at ₹13,083, followed by the Philippines (₹9,914) and Qatar (₹5,146).</a:t>
            </a:r>
          </a:p>
          <a:p>
            <a:pPr algn="l">
              <a:lnSpc>
                <a:spcPts val="3035"/>
              </a:lnSpc>
              <a:spcBef>
                <a:spcPct val="0"/>
              </a:spcBef>
            </a:pPr>
            <a:r>
              <a:rPr lang="en-US" sz="2168" b="1">
                <a:solidFill>
                  <a:srgbClr val="FFFFFF"/>
                </a:solidFill>
                <a:latin typeface="Canva Sans Bold"/>
                <a:ea typeface="Canva Sans Bold"/>
                <a:cs typeface="Canva Sans Bold"/>
                <a:sym typeface="Canva Sans Bold"/>
              </a:rPr>
              <a:t>High Costs: The UK (₹5,116), UAE (₹3,828), and New Zealand (₹3,488) also have relatively high dining costs.</a:t>
            </a:r>
          </a:p>
          <a:p>
            <a:pPr algn="l">
              <a:lnSpc>
                <a:spcPts val="3035"/>
              </a:lnSpc>
              <a:spcBef>
                <a:spcPct val="0"/>
              </a:spcBef>
            </a:pPr>
            <a:r>
              <a:rPr lang="en-US" sz="2168" b="1">
                <a:solidFill>
                  <a:srgbClr val="FFFFFF"/>
                </a:solidFill>
                <a:latin typeface="Canva Sans Bold"/>
                <a:ea typeface="Canva Sans Bold"/>
                <a:cs typeface="Canva Sans Bold"/>
                <a:sym typeface="Canva Sans Bold"/>
              </a:rPr>
              <a:t>Moderate Costs: Canada (₹3,045), USA (₹2,214), Australia (₹2,023), Brazil (₹2,020), and South Africa (₹1,889) fall in the mid-range.</a:t>
            </a:r>
          </a:p>
          <a:p>
            <a:pPr algn="l">
              <a:lnSpc>
                <a:spcPts val="3035"/>
              </a:lnSpc>
              <a:spcBef>
                <a:spcPct val="0"/>
              </a:spcBef>
            </a:pPr>
            <a:r>
              <a:rPr lang="en-US" sz="2168" b="1">
                <a:solidFill>
                  <a:srgbClr val="FFFFFF"/>
                </a:solidFill>
                <a:latin typeface="Canva Sans Bold"/>
                <a:ea typeface="Canva Sans Bold"/>
                <a:cs typeface="Canva Sans Bold"/>
                <a:sym typeface="Canva Sans Bold"/>
              </a:rPr>
              <a:t>Lower Costs: Indonesia averages ₹1,462, Sri Lanka ₹713, and India ₹623.</a:t>
            </a:r>
          </a:p>
          <a:p>
            <a:pPr algn="l">
              <a:lnSpc>
                <a:spcPts val="3035"/>
              </a:lnSpc>
              <a:spcBef>
                <a:spcPct val="0"/>
              </a:spcBef>
            </a:pPr>
            <a:r>
              <a:rPr lang="en-US" sz="2168" b="1">
                <a:solidFill>
                  <a:srgbClr val="FFFFFF"/>
                </a:solidFill>
                <a:latin typeface="Canva Sans Bold"/>
                <a:ea typeface="Canva Sans Bold"/>
                <a:cs typeface="Canva Sans Bold"/>
                <a:sym typeface="Canva Sans Bold"/>
              </a:rPr>
              <a:t>Least Expensive: Turkey is the most affordable, with just ₹212 on average for two people.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67103" y="1312076"/>
            <a:ext cx="10636441" cy="5863338"/>
          </a:xfrm>
          <a:custGeom>
            <a:avLst/>
            <a:gdLst/>
            <a:ahLst/>
            <a:cxnLst/>
            <a:rect l="l" t="t" r="r" b="b"/>
            <a:pathLst>
              <a:path w="10636441" h="5863338">
                <a:moveTo>
                  <a:pt x="0" y="0"/>
                </a:moveTo>
                <a:lnTo>
                  <a:pt x="10636441" y="0"/>
                </a:lnTo>
                <a:lnTo>
                  <a:pt x="10636441" y="5863339"/>
                </a:lnTo>
                <a:lnTo>
                  <a:pt x="0" y="5863339"/>
                </a:lnTo>
                <a:lnTo>
                  <a:pt x="0" y="0"/>
                </a:lnTo>
                <a:close/>
              </a:path>
            </a:pathLst>
          </a:custGeom>
          <a:blipFill>
            <a:blip r:embed="rId2"/>
            <a:stretch>
              <a:fillRect/>
            </a:stretch>
          </a:blipFill>
        </p:spPr>
      </p:sp>
      <p:sp>
        <p:nvSpPr>
          <p:cNvPr id="3" name="TextBox 3"/>
          <p:cNvSpPr txBox="1"/>
          <p:nvPr/>
        </p:nvSpPr>
        <p:spPr>
          <a:xfrm>
            <a:off x="6384632" y="349251"/>
            <a:ext cx="13665301" cy="679449"/>
          </a:xfrm>
          <a:prstGeom prst="rect">
            <a:avLst/>
          </a:prstGeom>
        </p:spPr>
        <p:txBody>
          <a:bodyPr lIns="0" tIns="0" rIns="0" bIns="0" rtlCol="0" anchor="t">
            <a:spAutoFit/>
          </a:bodyPr>
          <a:lstStyle/>
          <a:p>
            <a:pPr algn="l">
              <a:lnSpc>
                <a:spcPts val="5600"/>
              </a:lnSpc>
            </a:pPr>
            <a:r>
              <a:rPr lang="en-US" sz="4000" b="1" spc="-384">
                <a:solidFill>
                  <a:srgbClr val="ED000E"/>
                </a:solidFill>
                <a:latin typeface="Garet Bold"/>
                <a:ea typeface="Garet Bold"/>
                <a:cs typeface="Garet Bold"/>
                <a:sym typeface="Garet Bold"/>
              </a:rPr>
              <a:t>CHOICE OF CUISINE</a:t>
            </a:r>
          </a:p>
        </p:txBody>
      </p:sp>
      <p:sp>
        <p:nvSpPr>
          <p:cNvPr id="4" name="TextBox 4"/>
          <p:cNvSpPr txBox="1"/>
          <p:nvPr/>
        </p:nvSpPr>
        <p:spPr>
          <a:xfrm>
            <a:off x="2579369" y="7423065"/>
            <a:ext cx="14109754" cy="1470494"/>
          </a:xfrm>
          <a:prstGeom prst="rect">
            <a:avLst/>
          </a:prstGeom>
        </p:spPr>
        <p:txBody>
          <a:bodyPr lIns="0" tIns="0" rIns="0" bIns="0" rtlCol="0" anchor="t">
            <a:spAutoFit/>
          </a:bodyPr>
          <a:lstStyle/>
          <a:p>
            <a:pPr algn="l">
              <a:lnSpc>
                <a:spcPts val="2949"/>
              </a:lnSpc>
              <a:spcBef>
                <a:spcPct val="0"/>
              </a:spcBef>
            </a:pPr>
            <a:r>
              <a:rPr lang="en-US" sz="2106" b="1">
                <a:solidFill>
                  <a:srgbClr val="ED000E"/>
                </a:solidFill>
                <a:latin typeface="Canva Sans Bold"/>
                <a:ea typeface="Canva Sans Bold"/>
                <a:cs typeface="Canva Sans Bold"/>
                <a:sym typeface="Canva Sans Bold"/>
              </a:rPr>
              <a:t>According to my analysis, most individuals prefer their local cuisine over foreign cuisines, and restaurants that serve local cuisine and have higher ratings tend to receive better feedback. Thus, I've chosen a few regional dishes as well as a few more that received better reviews.</a:t>
            </a:r>
          </a:p>
          <a:p>
            <a:pPr algn="l">
              <a:lnSpc>
                <a:spcPts val="2949"/>
              </a:lnSpc>
              <a:spcBef>
                <a:spcPct val="0"/>
              </a:spcBef>
            </a:pPr>
            <a:r>
              <a:rPr lang="en-US" sz="2106" b="1">
                <a:solidFill>
                  <a:srgbClr val="ED000E"/>
                </a:solidFill>
                <a:latin typeface="Canva Sans Bold"/>
                <a:ea typeface="Canva Sans Bold"/>
                <a:cs typeface="Canva Sans Bold"/>
                <a:sym typeface="Canva Sans Bold"/>
              </a:rPr>
              <a:t> Here are the top five cuisines in the suggested countries based on customer feedback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D1111"/>
        </a:solidFill>
        <a:effectLst/>
      </p:bgPr>
    </p:bg>
    <p:spTree>
      <p:nvGrpSpPr>
        <p:cNvPr id="1" name=""/>
        <p:cNvGrpSpPr/>
        <p:nvPr/>
      </p:nvGrpSpPr>
      <p:grpSpPr>
        <a:xfrm>
          <a:off x="0" y="0"/>
          <a:ext cx="0" cy="0"/>
          <a:chOff x="0" y="0"/>
          <a:chExt cx="0" cy="0"/>
        </a:xfrm>
      </p:grpSpPr>
      <p:sp>
        <p:nvSpPr>
          <p:cNvPr id="2" name="Freeform 2"/>
          <p:cNvSpPr/>
          <p:nvPr/>
        </p:nvSpPr>
        <p:spPr>
          <a:xfrm>
            <a:off x="2042511" y="1688925"/>
            <a:ext cx="5777955" cy="4363290"/>
          </a:xfrm>
          <a:custGeom>
            <a:avLst/>
            <a:gdLst/>
            <a:ahLst/>
            <a:cxnLst/>
            <a:rect l="l" t="t" r="r" b="b"/>
            <a:pathLst>
              <a:path w="5777955" h="4363290">
                <a:moveTo>
                  <a:pt x="0" y="0"/>
                </a:moveTo>
                <a:lnTo>
                  <a:pt x="5777955" y="0"/>
                </a:lnTo>
                <a:lnTo>
                  <a:pt x="5777955" y="4363290"/>
                </a:lnTo>
                <a:lnTo>
                  <a:pt x="0" y="4363290"/>
                </a:lnTo>
                <a:lnTo>
                  <a:pt x="0" y="0"/>
                </a:lnTo>
                <a:close/>
              </a:path>
            </a:pathLst>
          </a:custGeom>
          <a:blipFill>
            <a:blip r:embed="rId2"/>
            <a:stretch>
              <a:fillRect r="-688"/>
            </a:stretch>
          </a:blipFill>
        </p:spPr>
      </p:sp>
      <p:sp>
        <p:nvSpPr>
          <p:cNvPr id="3" name="Freeform 3"/>
          <p:cNvSpPr/>
          <p:nvPr/>
        </p:nvSpPr>
        <p:spPr>
          <a:xfrm>
            <a:off x="9738813" y="1688925"/>
            <a:ext cx="6428421" cy="4363290"/>
          </a:xfrm>
          <a:custGeom>
            <a:avLst/>
            <a:gdLst/>
            <a:ahLst/>
            <a:cxnLst/>
            <a:rect l="l" t="t" r="r" b="b"/>
            <a:pathLst>
              <a:path w="6428421" h="4363290">
                <a:moveTo>
                  <a:pt x="0" y="0"/>
                </a:moveTo>
                <a:lnTo>
                  <a:pt x="6428421" y="0"/>
                </a:lnTo>
                <a:lnTo>
                  <a:pt x="6428421" y="4363290"/>
                </a:lnTo>
                <a:lnTo>
                  <a:pt x="0" y="4363290"/>
                </a:lnTo>
                <a:lnTo>
                  <a:pt x="0" y="0"/>
                </a:lnTo>
                <a:close/>
              </a:path>
            </a:pathLst>
          </a:custGeom>
          <a:blipFill>
            <a:blip r:embed="rId3"/>
            <a:stretch>
              <a:fillRect/>
            </a:stretch>
          </a:blipFill>
        </p:spPr>
      </p:sp>
      <p:sp>
        <p:nvSpPr>
          <p:cNvPr id="4" name="TextBox 4"/>
          <p:cNvSpPr txBox="1"/>
          <p:nvPr/>
        </p:nvSpPr>
        <p:spPr>
          <a:xfrm>
            <a:off x="6648611" y="349251"/>
            <a:ext cx="4877644" cy="679449"/>
          </a:xfrm>
          <a:prstGeom prst="rect">
            <a:avLst/>
          </a:prstGeom>
        </p:spPr>
        <p:txBody>
          <a:bodyPr lIns="0" tIns="0" rIns="0" bIns="0" rtlCol="0" anchor="t">
            <a:spAutoFit/>
          </a:bodyPr>
          <a:lstStyle/>
          <a:p>
            <a:pPr algn="l">
              <a:lnSpc>
                <a:spcPts val="5600"/>
              </a:lnSpc>
            </a:pPr>
            <a:r>
              <a:rPr lang="en-US" sz="4000" b="1" spc="-384">
                <a:solidFill>
                  <a:srgbClr val="FFFFFF"/>
                </a:solidFill>
                <a:latin typeface="Garet Bold"/>
                <a:ea typeface="Garet Bold"/>
                <a:cs typeface="Garet Bold"/>
                <a:sym typeface="Garet Bold"/>
              </a:rPr>
              <a:t>MODE   OF     BOOKING</a:t>
            </a:r>
          </a:p>
        </p:txBody>
      </p:sp>
      <p:sp>
        <p:nvSpPr>
          <p:cNvPr id="5" name="TextBox 5"/>
          <p:cNvSpPr txBox="1"/>
          <p:nvPr/>
        </p:nvSpPr>
        <p:spPr>
          <a:xfrm>
            <a:off x="2042511" y="6671340"/>
            <a:ext cx="6294735" cy="1749423"/>
          </a:xfrm>
          <a:prstGeom prst="rect">
            <a:avLst/>
          </a:prstGeom>
        </p:spPr>
        <p:txBody>
          <a:bodyPr lIns="0" tIns="0" rIns="0" bIns="0" rtlCol="0" anchor="t">
            <a:spAutoFit/>
          </a:bodyPr>
          <a:lstStyle/>
          <a:p>
            <a:pPr algn="l">
              <a:lnSpc>
                <a:spcPts val="2800"/>
              </a:lnSpc>
              <a:spcBef>
                <a:spcPct val="0"/>
              </a:spcBef>
            </a:pPr>
            <a:r>
              <a:rPr lang="en-US" sz="2000" spc="-192">
                <a:solidFill>
                  <a:srgbClr val="FFFFFF"/>
                </a:solidFill>
                <a:latin typeface="Garet"/>
                <a:ea typeface="Garet"/>
                <a:cs typeface="Garet"/>
                <a:sym typeface="Garet"/>
              </a:rPr>
              <a:t>Table Booking</a:t>
            </a:r>
          </a:p>
          <a:p>
            <a:pPr algn="l">
              <a:lnSpc>
                <a:spcPts val="2800"/>
              </a:lnSpc>
              <a:spcBef>
                <a:spcPct val="0"/>
              </a:spcBef>
            </a:pPr>
            <a:r>
              <a:rPr lang="en-US" sz="2000" spc="-192">
                <a:solidFill>
                  <a:srgbClr val="FFFFFF"/>
                </a:solidFill>
                <a:latin typeface="Garet"/>
                <a:ea typeface="Garet"/>
                <a:cs typeface="Garet"/>
                <a:sym typeface="Garet"/>
              </a:rPr>
              <a:t>Only 1,158 restaurants (about 12%) offer table booking.</a:t>
            </a:r>
          </a:p>
          <a:p>
            <a:pPr algn="l">
              <a:lnSpc>
                <a:spcPts val="2800"/>
              </a:lnSpc>
              <a:spcBef>
                <a:spcPct val="0"/>
              </a:spcBef>
            </a:pPr>
            <a:r>
              <a:rPr lang="en-US" sz="2000" spc="-192">
                <a:solidFill>
                  <a:srgbClr val="FFFFFF"/>
                </a:solidFill>
                <a:latin typeface="Garet"/>
                <a:ea typeface="Garet"/>
                <a:cs typeface="Garet"/>
                <a:sym typeface="Garet"/>
              </a:rPr>
              <a:t>A large majority (8,384 restaurants, ~88%) do not have a table booking facility.</a:t>
            </a:r>
          </a:p>
          <a:p>
            <a:pPr algn="l">
              <a:lnSpc>
                <a:spcPts val="2800"/>
              </a:lnSpc>
              <a:spcBef>
                <a:spcPct val="0"/>
              </a:spcBef>
            </a:pPr>
            <a:endParaRPr lang="en-US" sz="2000" spc="-192">
              <a:solidFill>
                <a:srgbClr val="FFFFFF"/>
              </a:solidFill>
              <a:latin typeface="Garet"/>
              <a:ea typeface="Garet"/>
              <a:cs typeface="Garet"/>
              <a:sym typeface="Garet"/>
            </a:endParaRPr>
          </a:p>
        </p:txBody>
      </p:sp>
      <p:sp>
        <p:nvSpPr>
          <p:cNvPr id="6" name="TextBox 6"/>
          <p:cNvSpPr txBox="1"/>
          <p:nvPr/>
        </p:nvSpPr>
        <p:spPr>
          <a:xfrm>
            <a:off x="9738813" y="6671340"/>
            <a:ext cx="5369521" cy="1044573"/>
          </a:xfrm>
          <a:prstGeom prst="rect">
            <a:avLst/>
          </a:prstGeom>
        </p:spPr>
        <p:txBody>
          <a:bodyPr lIns="0" tIns="0" rIns="0" bIns="0" rtlCol="0" anchor="t">
            <a:spAutoFit/>
          </a:bodyPr>
          <a:lstStyle/>
          <a:p>
            <a:pPr algn="l">
              <a:lnSpc>
                <a:spcPts val="2800"/>
              </a:lnSpc>
              <a:spcBef>
                <a:spcPct val="0"/>
              </a:spcBef>
            </a:pPr>
            <a:r>
              <a:rPr lang="en-US" sz="2000" spc="-192">
                <a:solidFill>
                  <a:srgbClr val="FEFEFE"/>
                </a:solidFill>
                <a:latin typeface="Garet"/>
                <a:ea typeface="Garet"/>
                <a:cs typeface="Garet"/>
                <a:sym typeface="Garet"/>
              </a:rPr>
              <a:t>Online Delivery</a:t>
            </a:r>
          </a:p>
          <a:p>
            <a:pPr algn="l">
              <a:lnSpc>
                <a:spcPts val="2800"/>
              </a:lnSpc>
              <a:spcBef>
                <a:spcPct val="0"/>
              </a:spcBef>
            </a:pPr>
            <a:r>
              <a:rPr lang="en-US" sz="2000" spc="-192">
                <a:solidFill>
                  <a:srgbClr val="FEFEFE"/>
                </a:solidFill>
                <a:latin typeface="Garet"/>
                <a:ea typeface="Garet"/>
                <a:cs typeface="Garet"/>
                <a:sym typeface="Garet"/>
              </a:rPr>
              <a:t>2,451 restaurants (about 26%) offer online delivery.</a:t>
            </a:r>
          </a:p>
          <a:p>
            <a:pPr algn="l">
              <a:lnSpc>
                <a:spcPts val="2800"/>
              </a:lnSpc>
              <a:spcBef>
                <a:spcPct val="0"/>
              </a:spcBef>
            </a:pPr>
            <a:r>
              <a:rPr lang="en-US" sz="2000" spc="-192">
                <a:solidFill>
                  <a:srgbClr val="FEFEFE"/>
                </a:solidFill>
                <a:latin typeface="Garet"/>
                <a:ea typeface="Garet"/>
                <a:cs typeface="Garet"/>
                <a:sym typeface="Garet"/>
              </a:rPr>
              <a:t>7,091 restaurants (~74%) do not offer online delivery.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1121" y="660399"/>
            <a:ext cx="17084341" cy="669926"/>
          </a:xfrm>
          <a:prstGeom prst="rect">
            <a:avLst/>
          </a:prstGeom>
        </p:spPr>
        <p:txBody>
          <a:bodyPr lIns="0" tIns="0" rIns="0" bIns="0" rtlCol="0" anchor="t">
            <a:spAutoFit/>
          </a:bodyPr>
          <a:lstStyle/>
          <a:p>
            <a:pPr algn="l">
              <a:lnSpc>
                <a:spcPts val="5599"/>
              </a:lnSpc>
            </a:pPr>
            <a:r>
              <a:rPr lang="en-US" sz="3999" b="1" spc="-383">
                <a:solidFill>
                  <a:srgbClr val="DD1111"/>
                </a:solidFill>
                <a:latin typeface="Garet Bold"/>
                <a:ea typeface="Garet Bold"/>
                <a:cs typeface="Garet Bold"/>
                <a:sym typeface="Garet Bold"/>
              </a:rPr>
              <a:t>KEY INSIGHTS TO IMPROVE PERFORMANCE IN LOW RATING AREAS</a:t>
            </a:r>
          </a:p>
        </p:txBody>
      </p:sp>
      <p:sp>
        <p:nvSpPr>
          <p:cNvPr id="3" name="Freeform 3"/>
          <p:cNvSpPr/>
          <p:nvPr/>
        </p:nvSpPr>
        <p:spPr>
          <a:xfrm flipV="1">
            <a:off x="15510303" y="9381435"/>
            <a:ext cx="12432189" cy="6216095"/>
          </a:xfrm>
          <a:custGeom>
            <a:avLst/>
            <a:gdLst/>
            <a:ahLst/>
            <a:cxnLst/>
            <a:rect l="l" t="t" r="r" b="b"/>
            <a:pathLst>
              <a:path w="12432189" h="6216095">
                <a:moveTo>
                  <a:pt x="0" y="6216095"/>
                </a:moveTo>
                <a:lnTo>
                  <a:pt x="12432189" y="6216095"/>
                </a:lnTo>
                <a:lnTo>
                  <a:pt x="12432189" y="0"/>
                </a:lnTo>
                <a:lnTo>
                  <a:pt x="0" y="0"/>
                </a:lnTo>
                <a:lnTo>
                  <a:pt x="0" y="6216095"/>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 name="Freeform 4"/>
          <p:cNvSpPr/>
          <p:nvPr/>
        </p:nvSpPr>
        <p:spPr>
          <a:xfrm flipV="1">
            <a:off x="15817113" y="9381435"/>
            <a:ext cx="2470887" cy="507655"/>
          </a:xfrm>
          <a:custGeom>
            <a:avLst/>
            <a:gdLst/>
            <a:ahLst/>
            <a:cxnLst/>
            <a:rect l="l" t="t" r="r" b="b"/>
            <a:pathLst>
              <a:path w="2470887" h="507655">
                <a:moveTo>
                  <a:pt x="0" y="507655"/>
                </a:moveTo>
                <a:lnTo>
                  <a:pt x="2470887" y="507655"/>
                </a:lnTo>
                <a:lnTo>
                  <a:pt x="2470887" y="0"/>
                </a:lnTo>
                <a:lnTo>
                  <a:pt x="0" y="0"/>
                </a:lnTo>
                <a:lnTo>
                  <a:pt x="0" y="507655"/>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5" name="TextBox 5"/>
          <p:cNvSpPr txBox="1"/>
          <p:nvPr/>
        </p:nvSpPr>
        <p:spPr>
          <a:xfrm>
            <a:off x="1721121" y="2037477"/>
            <a:ext cx="15538179" cy="6373894"/>
          </a:xfrm>
          <a:prstGeom prst="rect">
            <a:avLst/>
          </a:prstGeom>
        </p:spPr>
        <p:txBody>
          <a:bodyPr lIns="0" tIns="0" rIns="0" bIns="0" rtlCol="0" anchor="t">
            <a:spAutoFit/>
          </a:bodyPr>
          <a:lstStyle/>
          <a:p>
            <a:pPr algn="l">
              <a:lnSpc>
                <a:spcPts val="4633"/>
              </a:lnSpc>
              <a:spcBef>
                <a:spcPct val="0"/>
              </a:spcBef>
            </a:pPr>
            <a:r>
              <a:rPr lang="en-US" sz="3309" b="1" spc="-317">
                <a:solidFill>
                  <a:srgbClr val="DD1111"/>
                </a:solidFill>
                <a:latin typeface="Garet Bold"/>
                <a:ea typeface="Garet Bold"/>
                <a:cs typeface="Garet Bold"/>
                <a:sym typeface="Garet Bold"/>
              </a:rPr>
              <a:t>Recommendation:</a:t>
            </a:r>
          </a:p>
          <a:p>
            <a:pPr algn="l">
              <a:lnSpc>
                <a:spcPts val="4633"/>
              </a:lnSpc>
              <a:spcBef>
                <a:spcPct val="0"/>
              </a:spcBef>
            </a:pPr>
            <a:r>
              <a:rPr lang="en-US" sz="3309" spc="-317">
                <a:solidFill>
                  <a:srgbClr val="DD1111"/>
                </a:solidFill>
                <a:latin typeface="Garet"/>
                <a:ea typeface="Garet"/>
                <a:cs typeface="Garet"/>
                <a:sym typeface="Garet"/>
              </a:rPr>
              <a:t>Identify and address the issues in regions with lower average ratings.</a:t>
            </a:r>
          </a:p>
          <a:p>
            <a:pPr algn="l">
              <a:lnSpc>
                <a:spcPts val="4633"/>
              </a:lnSpc>
              <a:spcBef>
                <a:spcPct val="0"/>
              </a:spcBef>
            </a:pPr>
            <a:r>
              <a:rPr lang="en-US" sz="3309" b="1" spc="-317">
                <a:solidFill>
                  <a:srgbClr val="DD1111"/>
                </a:solidFill>
                <a:latin typeface="Garet Bold"/>
                <a:ea typeface="Garet Bold"/>
                <a:cs typeface="Garet Bold"/>
                <a:sym typeface="Garet Bold"/>
              </a:rPr>
              <a:t>1.Data-Driven Reason:</a:t>
            </a:r>
          </a:p>
          <a:p>
            <a:pPr algn="l">
              <a:lnSpc>
                <a:spcPts val="4633"/>
              </a:lnSpc>
              <a:spcBef>
                <a:spcPct val="0"/>
              </a:spcBef>
            </a:pPr>
            <a:r>
              <a:rPr lang="en-US" sz="3309" spc="-317">
                <a:solidFill>
                  <a:srgbClr val="DD1111"/>
                </a:solidFill>
                <a:latin typeface="Garet"/>
                <a:ea typeface="Garet"/>
                <a:cs typeface="Garet"/>
                <a:sym typeface="Garet"/>
              </a:rPr>
              <a:t>•Analysis of low-rated restaurants can reveal common drawback  such as poor service, food quality, or ambience, which need to be rectiﬁed</a:t>
            </a:r>
          </a:p>
          <a:p>
            <a:pPr algn="l">
              <a:lnSpc>
                <a:spcPts val="4633"/>
              </a:lnSpc>
              <a:spcBef>
                <a:spcPct val="0"/>
              </a:spcBef>
            </a:pPr>
            <a:r>
              <a:rPr lang="en-US" sz="3309" b="1" spc="-317">
                <a:solidFill>
                  <a:srgbClr val="DD1111"/>
                </a:solidFill>
                <a:latin typeface="Garet Bold"/>
                <a:ea typeface="Garet Bold"/>
                <a:cs typeface="Garet Bold"/>
                <a:sym typeface="Garet Bold"/>
              </a:rPr>
              <a:t>2.Expected Impact:</a:t>
            </a:r>
          </a:p>
          <a:p>
            <a:pPr algn="l">
              <a:lnSpc>
                <a:spcPts val="4633"/>
              </a:lnSpc>
              <a:spcBef>
                <a:spcPct val="0"/>
              </a:spcBef>
            </a:pPr>
            <a:r>
              <a:rPr lang="en-US" sz="3309" spc="-317">
                <a:solidFill>
                  <a:srgbClr val="DD1111"/>
                </a:solidFill>
                <a:latin typeface="Garet"/>
                <a:ea typeface="Garet"/>
                <a:cs typeface="Garet"/>
                <a:sym typeface="Garet"/>
              </a:rPr>
              <a:t>•Enhanced Customer Satisfaction: By addressing these issues, Zomato can improve overall customer experience, leading to better rating reviews. </a:t>
            </a:r>
          </a:p>
          <a:p>
            <a:pPr algn="l">
              <a:lnSpc>
                <a:spcPts val="4633"/>
              </a:lnSpc>
              <a:spcBef>
                <a:spcPct val="0"/>
              </a:spcBef>
            </a:pPr>
            <a:r>
              <a:rPr lang="en-US" sz="3309" spc="-317">
                <a:solidFill>
                  <a:srgbClr val="DD1111"/>
                </a:solidFill>
                <a:latin typeface="Garet"/>
                <a:ea typeface="Garet"/>
                <a:cs typeface="Garet"/>
                <a:sym typeface="Garet"/>
              </a:rPr>
              <a:t>•Strengthened Market Position: Elevating performance in low-rated areas can reduce the risk of losing customers to competitors and improve Zomato's reputation in these regions.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68092" y="1028700"/>
            <a:ext cx="13450640" cy="8742916"/>
          </a:xfrm>
          <a:custGeom>
            <a:avLst/>
            <a:gdLst/>
            <a:ahLst/>
            <a:cxnLst/>
            <a:rect l="l" t="t" r="r" b="b"/>
            <a:pathLst>
              <a:path w="13450640" h="8742916">
                <a:moveTo>
                  <a:pt x="0" y="0"/>
                </a:moveTo>
                <a:lnTo>
                  <a:pt x="13450640" y="0"/>
                </a:lnTo>
                <a:lnTo>
                  <a:pt x="13450640" y="8742916"/>
                </a:lnTo>
                <a:lnTo>
                  <a:pt x="0" y="8742916"/>
                </a:lnTo>
                <a:lnTo>
                  <a:pt x="0" y="0"/>
                </a:lnTo>
                <a:close/>
              </a:path>
            </a:pathLst>
          </a:custGeom>
          <a:blipFill>
            <a:blip r:embed="rId2"/>
            <a:stretch>
              <a:fillRect/>
            </a:stretch>
          </a:blipFill>
        </p:spPr>
      </p:sp>
      <p:sp>
        <p:nvSpPr>
          <p:cNvPr id="3" name="TextBox 3"/>
          <p:cNvSpPr txBox="1"/>
          <p:nvPr/>
        </p:nvSpPr>
        <p:spPr>
          <a:xfrm>
            <a:off x="6664108" y="0"/>
            <a:ext cx="8672998" cy="1028700"/>
          </a:xfrm>
          <a:prstGeom prst="rect">
            <a:avLst/>
          </a:prstGeom>
        </p:spPr>
        <p:txBody>
          <a:bodyPr lIns="0" tIns="0" rIns="0" bIns="0" rtlCol="0" anchor="t">
            <a:spAutoFit/>
          </a:bodyPr>
          <a:lstStyle/>
          <a:p>
            <a:pPr algn="l">
              <a:lnSpc>
                <a:spcPts val="8400"/>
              </a:lnSpc>
            </a:pPr>
            <a:r>
              <a:rPr lang="en-US" sz="6000" b="1" spc="-576">
                <a:solidFill>
                  <a:srgbClr val="DD1111"/>
                </a:solidFill>
                <a:latin typeface="Garet Ultra-Bold"/>
                <a:ea typeface="Garet Ultra-Bold"/>
                <a:cs typeface="Garet Ultra-Bold"/>
                <a:sym typeface="Garet Ultra-Bold"/>
              </a:rPr>
              <a:t>DASHBOARD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423246" y="367677"/>
            <a:ext cx="9844467" cy="1188697"/>
          </a:xfrm>
          <a:prstGeom prst="rect">
            <a:avLst/>
          </a:prstGeom>
        </p:spPr>
        <p:txBody>
          <a:bodyPr lIns="0" tIns="0" rIns="0" bIns="0" rtlCol="0" anchor="t">
            <a:spAutoFit/>
          </a:bodyPr>
          <a:lstStyle/>
          <a:p>
            <a:pPr algn="l">
              <a:lnSpc>
                <a:spcPts val="9730"/>
              </a:lnSpc>
            </a:pPr>
            <a:r>
              <a:rPr lang="en-US" sz="6950" b="1" spc="-667">
                <a:solidFill>
                  <a:srgbClr val="DD1111"/>
                </a:solidFill>
                <a:latin typeface="Garet Ultra-Bold"/>
                <a:ea typeface="Garet Ultra-Bold"/>
                <a:cs typeface="Garet Ultra-Bold"/>
                <a:sym typeface="Garet Ultra-Bold"/>
              </a:rPr>
              <a:t>CONCLUSION</a:t>
            </a:r>
          </a:p>
        </p:txBody>
      </p:sp>
      <p:sp>
        <p:nvSpPr>
          <p:cNvPr id="3" name="TextBox 3"/>
          <p:cNvSpPr txBox="1"/>
          <p:nvPr/>
        </p:nvSpPr>
        <p:spPr>
          <a:xfrm>
            <a:off x="2424370" y="1870077"/>
            <a:ext cx="13439260" cy="7388223"/>
          </a:xfrm>
          <a:prstGeom prst="rect">
            <a:avLst/>
          </a:prstGeom>
        </p:spPr>
        <p:txBody>
          <a:bodyPr lIns="0" tIns="0" rIns="0" bIns="0" rtlCol="0" anchor="t">
            <a:spAutoFit/>
          </a:bodyPr>
          <a:lstStyle/>
          <a:p>
            <a:pPr marL="431817" lvl="1" indent="-215908" algn="just">
              <a:lnSpc>
                <a:spcPts val="2800"/>
              </a:lnSpc>
              <a:buFont typeface="Arial"/>
              <a:buChar char="•"/>
            </a:pPr>
            <a:r>
              <a:rPr lang="en-US" sz="2000" spc="-192">
                <a:solidFill>
                  <a:srgbClr val="DD1111"/>
                </a:solidFill>
                <a:latin typeface="Garet"/>
                <a:ea typeface="Garet"/>
                <a:cs typeface="Garet"/>
                <a:sym typeface="Garet"/>
              </a:rPr>
              <a:t>Countries to be considered for opening new restaurants : </a:t>
            </a:r>
          </a:p>
          <a:p>
            <a:pPr algn="just">
              <a:lnSpc>
                <a:spcPts val="2800"/>
              </a:lnSpc>
            </a:pPr>
            <a:r>
              <a:rPr lang="en-US" sz="2000" spc="-192">
                <a:solidFill>
                  <a:srgbClr val="DD1111"/>
                </a:solidFill>
                <a:latin typeface="Garet"/>
                <a:ea typeface="Garet"/>
                <a:cs typeface="Garet"/>
                <a:sym typeface="Garet"/>
              </a:rPr>
              <a:t>            Qatar, Canada,   Singapore,   Sri lanka,   India</a:t>
            </a:r>
          </a:p>
          <a:p>
            <a:pPr marL="431817" lvl="1" indent="-215908" algn="just">
              <a:lnSpc>
                <a:spcPts val="2800"/>
              </a:lnSpc>
              <a:buFont typeface="Arial"/>
              <a:buChar char="•"/>
            </a:pPr>
            <a:r>
              <a:rPr lang="en-US" sz="2000" spc="-192">
                <a:solidFill>
                  <a:srgbClr val="DD1111"/>
                </a:solidFill>
                <a:latin typeface="Garet"/>
                <a:ea typeface="Garet"/>
                <a:cs typeface="Garet"/>
                <a:sym typeface="Garet"/>
              </a:rPr>
              <a:t>Cities  to   be   considered   for   opening new restaurants:</a:t>
            </a:r>
          </a:p>
          <a:p>
            <a:pPr algn="just">
              <a:lnSpc>
                <a:spcPts val="2800"/>
              </a:lnSpc>
            </a:pPr>
            <a:r>
              <a:rPr lang="en-US" sz="2000" spc="-192">
                <a:solidFill>
                  <a:srgbClr val="DD1111"/>
                </a:solidFill>
                <a:latin typeface="Garet"/>
                <a:ea typeface="Garet"/>
                <a:cs typeface="Garet"/>
                <a:sym typeface="Garet"/>
              </a:rPr>
              <a:t>            Doha,  Consort,   Yorkton,   Singapore, Colombo,  Aurangabad,  Allahabad,  Ghaziabad.</a:t>
            </a:r>
          </a:p>
          <a:p>
            <a:pPr marL="431817" lvl="1" indent="-215908" algn="just">
              <a:lnSpc>
                <a:spcPts val="2800"/>
              </a:lnSpc>
              <a:buFont typeface="Arial"/>
              <a:buChar char="•"/>
            </a:pPr>
            <a:r>
              <a:rPr lang="en-US" sz="2000" spc="-192">
                <a:solidFill>
                  <a:srgbClr val="DD1111"/>
                </a:solidFill>
                <a:latin typeface="Garet"/>
                <a:ea typeface="Garet"/>
                <a:cs typeface="Garet"/>
                <a:sym typeface="Garet"/>
              </a:rPr>
              <a:t>We   should    provide   Online Table Booking    facility in our new  restaurants</a:t>
            </a:r>
          </a:p>
          <a:p>
            <a:pPr marL="431817" lvl="1" indent="-215908" algn="just">
              <a:lnSpc>
                <a:spcPts val="2800"/>
              </a:lnSpc>
              <a:buFont typeface="Arial"/>
              <a:buChar char="•"/>
            </a:pPr>
            <a:r>
              <a:rPr lang="en-US" sz="2000" spc="-192">
                <a:solidFill>
                  <a:srgbClr val="DD1111"/>
                </a:solidFill>
                <a:latin typeface="Garet"/>
                <a:ea typeface="Garet"/>
                <a:cs typeface="Garet"/>
                <a:sym typeface="Garet"/>
              </a:rPr>
              <a:t> We   should    provide   Online   Delivery   facility  also</a:t>
            </a:r>
          </a:p>
          <a:p>
            <a:pPr algn="just">
              <a:lnSpc>
                <a:spcPts val="2800"/>
              </a:lnSpc>
            </a:pPr>
            <a:endParaRPr lang="en-US" sz="2000" spc="-192">
              <a:solidFill>
                <a:srgbClr val="DD1111"/>
              </a:solidFill>
              <a:latin typeface="Garet"/>
              <a:ea typeface="Garet"/>
              <a:cs typeface="Garet"/>
              <a:sym typeface="Garet"/>
            </a:endParaRPr>
          </a:p>
          <a:p>
            <a:pPr algn="just">
              <a:lnSpc>
                <a:spcPts val="2800"/>
              </a:lnSpc>
            </a:pPr>
            <a:r>
              <a:rPr lang="en-US" sz="2000" spc="-192">
                <a:solidFill>
                  <a:srgbClr val="DD1111"/>
                </a:solidFill>
                <a:latin typeface="Garet"/>
                <a:ea typeface="Garet"/>
                <a:cs typeface="Garet"/>
                <a:sym typeface="Garet"/>
              </a:rPr>
              <a:t>Interpretation:</a:t>
            </a:r>
          </a:p>
          <a:p>
            <a:pPr algn="just">
              <a:lnSpc>
                <a:spcPts val="2800"/>
              </a:lnSpc>
            </a:pPr>
            <a:r>
              <a:rPr lang="en-US" sz="2000" spc="-192">
                <a:solidFill>
                  <a:srgbClr val="DD1111"/>
                </a:solidFill>
                <a:latin typeface="Garet"/>
                <a:ea typeface="Garet"/>
                <a:cs typeface="Garet"/>
                <a:sym typeface="Garet"/>
              </a:rPr>
              <a:t>City/Regio :  Identifies areas with high average ratings for potential expansion.</a:t>
            </a:r>
          </a:p>
          <a:p>
            <a:pPr algn="just">
              <a:lnSpc>
                <a:spcPts val="2800"/>
              </a:lnSpc>
            </a:pPr>
            <a:r>
              <a:rPr lang="en-US" sz="2000" spc="-192">
                <a:solidFill>
                  <a:srgbClr val="DD1111"/>
                </a:solidFill>
                <a:latin typeface="Garet"/>
                <a:ea typeface="Garet"/>
                <a:cs typeface="Garet"/>
                <a:sym typeface="Garet"/>
              </a:rPr>
              <a:t>•Rating Distribution  :  Bar charts and scatter plots categorize restaurants by ratings for quick assessments.</a:t>
            </a:r>
          </a:p>
          <a:p>
            <a:pPr algn="just">
              <a:lnSpc>
                <a:spcPts val="2800"/>
              </a:lnSpc>
            </a:pPr>
            <a:r>
              <a:rPr lang="en-US" sz="2000" spc="-192">
                <a:solidFill>
                  <a:srgbClr val="DD1111"/>
                </a:solidFill>
                <a:latin typeface="Garet"/>
                <a:ea typeface="Garet"/>
                <a:cs typeface="Garet"/>
                <a:sym typeface="Garet"/>
              </a:rPr>
              <a:t>•Time Series Analysis  :   Line  charts  illustrate  yearly  restaurant    openings     for market   growth   insights. </a:t>
            </a:r>
          </a:p>
          <a:p>
            <a:pPr algn="just">
              <a:lnSpc>
                <a:spcPts val="2800"/>
              </a:lnSpc>
            </a:pPr>
            <a:endParaRPr lang="en-US" sz="2000" spc="-192">
              <a:solidFill>
                <a:srgbClr val="DD1111"/>
              </a:solidFill>
              <a:latin typeface="Garet"/>
              <a:ea typeface="Garet"/>
              <a:cs typeface="Garet"/>
              <a:sym typeface="Garet"/>
            </a:endParaRPr>
          </a:p>
          <a:p>
            <a:pPr algn="just">
              <a:lnSpc>
                <a:spcPts val="2800"/>
              </a:lnSpc>
            </a:pPr>
            <a:r>
              <a:rPr lang="en-US" sz="2000" spc="-192">
                <a:solidFill>
                  <a:srgbClr val="DD1111"/>
                </a:solidFill>
                <a:latin typeface="Garet"/>
                <a:ea typeface="Garet"/>
                <a:cs typeface="Garet"/>
                <a:sym typeface="Garet"/>
              </a:rPr>
              <a:t>Interactivity</a:t>
            </a:r>
          </a:p>
          <a:p>
            <a:pPr algn="just">
              <a:lnSpc>
                <a:spcPts val="2800"/>
              </a:lnSpc>
            </a:pPr>
            <a:r>
              <a:rPr lang="en-US" sz="2000" spc="-192">
                <a:solidFill>
                  <a:srgbClr val="DD1111"/>
                </a:solidFill>
                <a:latin typeface="Garet"/>
                <a:ea typeface="Garet"/>
                <a:cs typeface="Garet"/>
                <a:sym typeface="Garet"/>
              </a:rPr>
              <a:t>•Filters  and Slicers  : The dashboard includes ﬁlters for selecting speciﬁc cities, years or rating ranges, making it easier to drill down into the data for more detailed analysis.</a:t>
            </a:r>
          </a:p>
          <a:p>
            <a:pPr algn="just">
              <a:lnSpc>
                <a:spcPts val="2800"/>
              </a:lnSpc>
            </a:pPr>
            <a:r>
              <a:rPr lang="en-US" sz="2000" spc="-192">
                <a:solidFill>
                  <a:srgbClr val="DD1111"/>
                </a:solidFill>
                <a:latin typeface="Garet"/>
                <a:ea typeface="Garet"/>
                <a:cs typeface="Garet"/>
                <a:sym typeface="Garet"/>
              </a:rPr>
              <a:t>Example: Users can ﬁlter the dashboard to view only high-rated restaurants in a particular city, helping to focus on top-performing areas for strategic decision-making</a:t>
            </a:r>
          </a:p>
          <a:p>
            <a:pPr algn="just">
              <a:lnSpc>
                <a:spcPts val="2800"/>
              </a:lnSpc>
            </a:pPr>
            <a:endParaRPr lang="en-US" sz="2000" spc="-192">
              <a:solidFill>
                <a:srgbClr val="DD1111"/>
              </a:solidFill>
              <a:latin typeface="Garet"/>
              <a:ea typeface="Garet"/>
              <a:cs typeface="Garet"/>
              <a:sym typeface="Garet"/>
            </a:endParaRPr>
          </a:p>
          <a:p>
            <a:pPr algn="just">
              <a:lnSpc>
                <a:spcPts val="2800"/>
              </a:lnSpc>
            </a:pPr>
            <a:endParaRPr lang="en-US" sz="2000" spc="-192">
              <a:solidFill>
                <a:srgbClr val="DD1111"/>
              </a:solidFill>
              <a:latin typeface="Garet"/>
              <a:ea typeface="Garet"/>
              <a:cs typeface="Garet"/>
              <a:sym typeface="Garet"/>
            </a:endParaRPr>
          </a:p>
          <a:p>
            <a:pPr algn="just">
              <a:lnSpc>
                <a:spcPts val="2800"/>
              </a:lnSpc>
              <a:spcBef>
                <a:spcPct val="0"/>
              </a:spcBef>
            </a:pPr>
            <a:endParaRPr lang="en-US" sz="2000" spc="-192">
              <a:solidFill>
                <a:srgbClr val="DD1111"/>
              </a:solidFill>
              <a:latin typeface="Garet"/>
              <a:ea typeface="Garet"/>
              <a:cs typeface="Garet"/>
              <a:sym typeface="Garet"/>
            </a:endParaRPr>
          </a:p>
          <a:p>
            <a:pPr algn="just">
              <a:lnSpc>
                <a:spcPts val="2800"/>
              </a:lnSpc>
              <a:spcBef>
                <a:spcPct val="0"/>
              </a:spcBef>
            </a:pPr>
            <a:r>
              <a:rPr lang="en-US" sz="2000" spc="-192">
                <a:solidFill>
                  <a:srgbClr val="DD1111"/>
                </a:solidFill>
                <a:latin typeface="Garet"/>
                <a:ea typeface="Garet"/>
                <a:cs typeface="Garet"/>
                <a:sym typeface="Garet"/>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1255</Words>
  <Application>Microsoft Office PowerPoint</Application>
  <PresentationFormat>Custom</PresentationFormat>
  <Paragraphs>120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Garet Ultra-Bold</vt:lpstr>
      <vt:lpstr>Canva Sans Bold</vt:lpstr>
      <vt:lpstr>Garet</vt:lpstr>
      <vt:lpstr>Calibri</vt:lpstr>
      <vt:lpstr>Canva Sans</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dc:title>
  <cp:lastModifiedBy>DELL</cp:lastModifiedBy>
  <cp:revision>6</cp:revision>
  <dcterms:created xsi:type="dcterms:W3CDTF">2006-08-16T00:00:00Z</dcterms:created>
  <dcterms:modified xsi:type="dcterms:W3CDTF">2025-08-10T10:16:54Z</dcterms:modified>
  <dc:identifier>DAGtnJutdgU</dc:identifier>
</cp:coreProperties>
</file>